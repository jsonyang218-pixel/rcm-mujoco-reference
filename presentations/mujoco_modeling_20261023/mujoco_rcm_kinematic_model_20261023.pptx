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2"/>
  </p:notesMasterIdLst>
  <p:sldIdLst>
    <p:sldId id="256" r:id="rId9"/>
    <p:sldId id="257" r:id="rId10"/>
    <p:sldId id="258" r:id="rId11"/>
    <p:sldId id="259" r:id="rId8"/>
    <p:sldId id="260" r:id="rId7"/>
    <p:sldId id="261" r:id="rId6"/>
    <p:sldId id="262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建议讲述：15秒。</a:t>
            </a:r>
          </a:p>
          <a:p/>
          <a:p>
            <a:r>
              <a:t>这一份单独说明MuJoCo中怎样建立RCM机器人模型，重点是关节树、运动学模型、针尖坐标变换与RCM约束。它是独立文件，不修改之前的π0与导航汇报。</a:t>
            </a:r>
          </a:p>
          <a:p/>
          <a:p>
            <a:r>
              <a:t>来源与条件：</a:t>
            </a:r>
          </a:p>
          <a:p>
            <a:r>
              <a:t>rcm_reference.py；rcm_recovered_model.py；config.json</a:t>
            </a:r>
          </a:p>
          <a:p>
            <a:r>
              <a:t>外部模型图片为说明用静态重渲染，不是新导航实验。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建议讲述：45秒。</a:t>
            </a:r>
          </a:p>
          <a:p/>
          <a:p>
            <a:r>
              <a:t>场景由眼球椭球、目标、相机、针具和固定RCM点构成。图片是当前模型的实际外部渲染，不是绘制出来的机构效果图。运动层有三个独立任务关节，并带四个从属显示关节，所以MuJoCo的nq与nv等于七，但控制任务自由度仍是三。当前通过设置qpos并调用mj_forward计算运动学，没有actuator，nu等于零。外观等效杆件并未按实机逐项标定，不能以截图推断真实机构尺寸或动力学。</a:t>
            </a:r>
          </a:p>
          <a:p/>
          <a:p>
            <a:r>
              <a:t>来源与条件：</a:t>
            </a:r>
          </a:p>
          <a:p>
            <a:r>
              <a:t>rcm_reference.py:446–760</a:t>
            </a:r>
          </a:p>
          <a:p>
            <a:r>
              <a:t>config.json:illustrative_linkage，measured=false；visual_scale=0.67</a:t>
            </a:r>
          </a:p>
          <a:p>
            <a:r>
              <a:t>model_assets/中的渲染说明；无新导航运行。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建议讲述：55秒。</a:t>
            </a:r>
          </a:p>
          <a:p/>
          <a:p>
            <a:r>
              <a:t>真实主链从固定安装体依次进入A_stage、B_RCM_task_frame、C_carriage_and_needle和针尖site。A是绕自身局部负Y轴的hinge，B是绕局部正X轴的hinge，C沿局部负Z轴平移。因此不能直接套用常见的绕世界Z和Y旋转的公式。A、B是放在RCM处的等效任务旋转轴，展开框图只表示父子关系，不表示两轴在空间分离，也不是声称真实电机轴都安装在RCM。四个可视B关节由任务B正负赋值，不是额外控制量。</a:t>
            </a:r>
          </a:p>
          <a:p/>
          <a:p>
            <a:r>
              <a:t>来源与条件：</a:t>
            </a:r>
          </a:p>
          <a:p>
            <a:r>
              <a:t>rcm_reference.py:21、239–242、647–692</a:t>
            </a:r>
          </a:p>
          <a:p>
            <a:r>
              <a:t>scene.xml相应body/joint及equality条目。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建议讲述：75秒。</a:t>
            </a:r>
          </a:p>
          <a:p/>
          <a:p>
            <a:r>
              <a:t>这张图是运动学模型的核心。安装系M的原点设在固定RCM。蓝色A轴沿负Y_M，橙色B轴随A旋转，沿转后的正X_A；绿色C方向是针轴局部负Z_B。A和B改变方向，C只沿当前针轴推进，所以无论姿态如何变化，针轴都应穿过固定RCM。虚线表示参考姿态，实线表示示意姿态。RCM到针尖的长度是参考偏置L零加插入增量c。图由PowerPoint原生线、箭头、圆点和文字构成，可继续编辑；只表达模型关系，不按实机尺寸绘制。</a:t>
            </a:r>
          </a:p>
          <a:p/>
          <a:p>
            <a:r>
              <a:t>来源与条件：</a:t>
            </a:r>
          </a:p>
          <a:p>
            <a:r>
              <a:t>rcm_reference.py:647–692；关节局部轴0 −1 0 / 1 0 0 / 0 0 −1</a:t>
            </a:r>
          </a:p>
          <a:p>
            <a:r>
              <a:t>图示投影参数记录在evidence/kinematic_diagram.json。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建议讲述：75秒。</a:t>
            </a:r>
          </a:p>
          <a:p/>
          <a:p>
            <a:r>
              <a:t>正运动学严格按MuJoCo主链写。先平移到世界系中的RCM，再施加当前配置的45度X安装旋转，随后绕负Y进行方位转动、绕X进行俯仰，最后沿局部负Z平移到针尖。内部任务坐标是弧度、弧度、米，界面显示是度、度、毫米，两者需转换。方位角phi含零位phi零，俯仰beta含beta零，长度L含L零。当前phi零为0度，beta零约负13.764度，L零为4毫米，因此ABC显示为零并不代表针尖在RCM。这个4毫米是暂定模型偏置，不能作为已经实测的几何标定。</a:t>
            </a:r>
          </a:p>
          <a:p/>
          <a:p>
            <a:r>
              <a:t>来源与条件：</a:t>
            </a:r>
          </a:p>
          <a:p>
            <a:r>
              <a:t>rcm_reference.py:67–104、216–222、282–286、647–692</a:t>
            </a:r>
          </a:p>
          <a:p>
            <a:r>
              <a:t>config.json:installation、encoder_reference</a:t>
            </a:r>
          </a:p>
          <a:p>
            <a:r>
              <a:t>源机器人系换基R_mount diag(1,−1,−1)与此安装系写法等价，不是额外物理安装。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建议讲述：60秒。</a:t>
            </a:r>
          </a:p>
          <a:p/>
          <a:p>
            <a:r>
              <a:t>RCM约束可以写为固定点到当前针轴直线的距离。d是单位针轴方向，I减dd转置把向量投影到针轴的垂直平面，所以约束为零意味着针轴经过固定RCM。我们做了最小的只读数值检验：检查三个任务变量和四个显示从属关节，再在三个确定姿态比较解析正运动学和MuJoCo针尖site，并计算轴到RCM的距离。差异在浮点精度量级，说明公式与编译模型一致。这是程序和理想模型的一致性检查，不能解释为实机达到这种数值精度。</a:t>
            </a:r>
          </a:p>
          <a:p/>
          <a:p>
            <a:r>
              <a:t>来源与条件：</a:t>
            </a:r>
          </a:p>
          <a:p>
            <a:r>
              <a:t>evidence/numeric_checks.json</a:t>
            </a:r>
          </a:p>
          <a:p>
            <a:r>
              <a:t>rcm_reference.py:state_from_task、set_task、metrics；rcm_recovered_model.py:needle_axis、forward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建议讲述：55秒。</a:t>
            </a:r>
          </a:p>
          <a:p/>
          <a:p>
            <a:r>
              <a:t>最后区分任务运动学、名义编码器映射和实机标定。编码器通过零位、符号和比例换算为执行器量，B执行器还有非线性位移到角度的映射。这里给出的公式来自原程序恢复的名义参数，并非实机闭链已经测量完成；B直线位移s_B也不是任务角增量b。α是原程序俯仰角，β=α−68°；因为映射跨极小值后并非一一对应，逆解需约束分支并参考前一姿态。当前明确的是等效RCM运动学、场景和几何观测接口。外观杆件、针尖绝对偏置、相机外参和真实机构映射仍需实测。模型没有actuator或动力学积分，惯量为占位、重力和接触关闭，因此不能用于宣称真实受力、制动或组织穿刺效果。</a:t>
            </a:r>
          </a:p>
          <a:p/>
          <a:p>
            <a:r>
              <a:t>来源与条件：</a:t>
            </a:r>
          </a:p>
          <a:p>
            <a:r>
              <a:t>rcm_recovered_model.py:b_displacement、EncoderMap</a:t>
            </a:r>
          </a:p>
          <a:p>
            <a:r>
              <a:t>config.json:kinematics、encoders、encoder_reference、illustrative_linkage</a:t>
            </a:r>
          </a:p>
          <a:p>
            <a:r>
              <a:t>rcm_reference.py:set_task及build_xml；当前动力学与接触范围说明见model_evidence.md。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AEAE621-C74E-41E0-A333-1FAE6B0C3E2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1F38EF5-E669-4163-80FD-01AD8F748D7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DE63829-DA99-46C8-8D7B-ACA8533C5B0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1A30B30-85C1-4A96-B94D-3FEE5D54BBD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5C4A497-3C2B-4F0D-A4AD-461871920D9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14FEE57-D456-4158-BE5C-861ECFD0992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FE4C8F6-B6A6-46AB-BB84-DD4E154BAA6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AA18506-396C-4F25-825F-DCE13978A5A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4A5D9CC-F177-4263-A04B-3E05EB36BB3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D176292-2BD0-4D72-A3A8-7B6E094BC5D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18BCB25-E422-4A29-8B9E-729E7B06A34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BFF30B6-98C7-4A10-B567-66D79B33125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 rot="-1560000">
            <a:off x="241300" y="4610100"/>
            <a:ext cx="1841500" cy="1841500"/>
          </a:xfrm>
          <a:prstGeom prst="donut">
            <a:avLst>
              <a:gd name="adj" fmla="val 2500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34000">
                <a:srgbClr val="FFFFFF">
                  <a:alpha val="0"/>
                </a:srgbClr>
              </a:gs>
              <a:gs pos="100000">
                <a:srgbClr val="7598D3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 rot="10800000">
            <a:off x="8064500" y="3937000"/>
            <a:ext cx="4125697" cy="2921419"/>
          </a:xfrm>
          <a:custGeom>
            <a:avLst/>
            <a:gdLst/>
            <a:ahLst/>
            <a:cxnLst/>
            <a:rect l="l" t="t" r="r" b="b"/>
            <a:pathLst>
              <a:path w="4125697" h="2921419">
                <a:moveTo>
                  <a:pt x="878848" y="2921419"/>
                </a:moveTo>
                <a:cubicBezTo>
                  <a:pt x="653430" y="2921419"/>
                  <a:pt x="433349" y="2898578"/>
                  <a:pt x="220791" y="2855082"/>
                </a:cubicBezTo>
                <a:lnTo>
                  <a:pt x="0" y="2798309"/>
                </a:lnTo>
                <a:lnTo>
                  <a:pt x="0" y="1030615"/>
                </a:lnTo>
                <a:lnTo>
                  <a:pt x="100646" y="1091759"/>
                </a:lnTo>
                <a:cubicBezTo>
                  <a:pt x="331977" y="1217426"/>
                  <a:pt x="597077" y="1288807"/>
                  <a:pt x="878848" y="1288807"/>
                </a:cubicBezTo>
                <a:cubicBezTo>
                  <a:pt x="1611453" y="1288807"/>
                  <a:pt x="2231354" y="806267"/>
                  <a:pt x="2438061" y="141682"/>
                </a:cubicBezTo>
                <a:lnTo>
                  <a:pt x="2474492" y="0"/>
                </a:lnTo>
                <a:lnTo>
                  <a:pt x="4125697" y="0"/>
                </a:lnTo>
                <a:lnTo>
                  <a:pt x="4077735" y="314250"/>
                </a:lnTo>
                <a:cubicBezTo>
                  <a:pt x="3773265" y="1802159"/>
                  <a:pt x="2456764" y="2921419"/>
                  <a:pt x="878848" y="292141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100000"/>
                </a:srgbClr>
              </a:gs>
              <a:gs pos="22000">
                <a:srgbClr val="FFFFFF">
                  <a:alpha val="0"/>
                </a:srgbClr>
              </a:gs>
              <a:gs pos="100000">
                <a:srgbClr val="7598D3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460500"/>
            <a:ext cx="12192000" cy="3327400"/>
          </a:xfrm>
          <a:prstGeom prst="roundRect">
            <a:avLst>
              <a:gd name="adj" fmla="val 0"/>
            </a:avLst>
          </a:prstGeom>
          <a:gradFill rotWithShape="1">
            <a:gsLst>
              <a:gs pos="11000">
                <a:srgbClr val="2B47AA">
                  <a:alpha val="100000"/>
                </a:srgbClr>
              </a:gs>
              <a:gs pos="87000">
                <a:srgbClr val="046DC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49808" y="1847088"/>
            <a:ext cx="7086600" cy="15544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MuJoCo 建模与</a:t>
            </a:r>
            <a:endParaRPr lang="en-US" sz="1100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RCM 运动学模型</a:t>
            </a:r>
          </a:p>
        </p:txBody>
      </p:sp>
      <p:sp>
        <p:nvSpPr>
          <p:cNvPr id="6" name="AutoShape 6"/>
          <p:cNvSpPr/>
          <p:nvPr/>
        </p:nvSpPr>
        <p:spPr>
          <a:xfrm>
            <a:off x="777240" y="3886200"/>
            <a:ext cx="699516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场景搭建 · R–R–P等效链 · 针尖运动与RCM约束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895600" y="5181600"/>
            <a:ext cx="2527300" cy="304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8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895600" y="5168900"/>
            <a:ext cx="2527300" cy="393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 b="0">
                <a:solidFill>
                  <a:srgbClr val="143295"/>
                </a:solidFill>
                <a:latin typeface="Noto Sans SC"/>
                <a:ea typeface="Noto Sans SC"/>
                <a:cs typeface="Noto Sans SC"/>
              </a:rPr>
              <a:t>汇报人：杨淏博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72200" y="5181600"/>
            <a:ext cx="1727200" cy="304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8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18200" y="5181600"/>
            <a:ext cx="2552700" cy="393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 b="0">
                <a:solidFill>
                  <a:srgbClr val="143295"/>
                </a:solidFill>
                <a:latin typeface="Noto Sans SC"/>
                <a:ea typeface="Noto Sans SC"/>
                <a:cs typeface="Noto Sans SC"/>
              </a:rPr>
              <a:t>日期：2026.10.23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38600" y="330200"/>
            <a:ext cx="3479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1" descr="当前MuJoCo模型的静态说明用外视渲染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67078"/>
            <a:ext cx="3063240" cy="27569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39327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MuJoCo场景与建模层级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MuJoCo建模 · RCM运动学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等效任务链 · 坐标映射 · 模型边界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02 / 07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658368" y="1307592"/>
            <a:ext cx="5577840" cy="4059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等效机构、眼球和针具的真实MuJoCo静态渲染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789938"/>
            <a:ext cx="3337560" cy="3003803"/>
          </a:xfrm>
          <a:prstGeom prst="rect">
            <a:avLst/>
          </a:prstGeom>
        </p:spPr>
      </p:pic>
      <p:pic>
        <p:nvPicPr>
          <p:cNvPr id="30" name="Picture 29" descr="RCM及针尖局部的实际MuJoCo渲染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235708"/>
            <a:ext cx="2011680" cy="18105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33087" y="1399032"/>
            <a:ext cx="1956816" cy="3383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针具 / 眼球局部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37760"/>
            <a:ext cx="5102352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实际MuJoCo渲染；展示标记与外观杆件为示意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7104" y="1353312"/>
            <a:ext cx="4892040" cy="9875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444752"/>
            <a:ext cx="463600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场景层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874519"/>
            <a:ext cx="463600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眼球椭球、目标、相机、针具与RCM site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7104" y="2596896"/>
            <a:ext cx="4892040" cy="9875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688336"/>
            <a:ext cx="463600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任务运动层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118103"/>
            <a:ext cx="463600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3个独立任务关节＋4个从属显示关节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47104" y="3840480"/>
            <a:ext cx="4892040" cy="9875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931920"/>
            <a:ext cx="463600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运行方式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61688"/>
            <a:ext cx="463600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直接设置qpos并调用mj_forward；nu=0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5632704"/>
            <a:ext cx="10652760" cy="3566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当前是理想化运动学参考模型：外观用于说明，任务链用于针尖运动。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080760"/>
            <a:ext cx="1088136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来源：Reference.build_xml；静态展示重渲染参数与源码哈希随材料保存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39327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主运动链：两个转动关节与一个移动关节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MuJoCo建模 · RCM运动学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等效任务链 · 坐标映射 · 模型边界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03 / 07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713232" y="1417320"/>
            <a:ext cx="1965960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1508760"/>
            <a:ext cx="17099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固定安装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1938528"/>
            <a:ext cx="1709928" cy="4389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Rx(45°)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97480" y="1929384"/>
            <a:ext cx="201168" cy="0"/>
          </a:xfrm>
          <a:prstGeom prst="line">
            <a:avLst/>
          </a:prstGeom>
          <a:ln w="2159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35224" y="1417320"/>
            <a:ext cx="1965960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1508760"/>
            <a:ext cx="17099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A_stage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1938528"/>
            <a:ext cx="1709928" cy="4389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hinge：−Y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19472" y="1929384"/>
            <a:ext cx="201168" cy="0"/>
          </a:xfrm>
          <a:prstGeom prst="line">
            <a:avLst/>
          </a:prstGeom>
          <a:ln w="2159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157216" y="1417320"/>
            <a:ext cx="1965960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1508760"/>
            <a:ext cx="17099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B任务框架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1938528"/>
            <a:ext cx="1709928" cy="4389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hinge：＋X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41464" y="1929384"/>
            <a:ext cx="201168" cy="0"/>
          </a:xfrm>
          <a:prstGeom prst="line">
            <a:avLst/>
          </a:prstGeom>
          <a:ln w="2159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79208" y="1417320"/>
            <a:ext cx="1965960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7224" y="1508760"/>
            <a:ext cx="17099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C_carriage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7224" y="1938528"/>
            <a:ext cx="1709928" cy="4389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slide：−Z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363456" y="1929384"/>
            <a:ext cx="201168" cy="0"/>
          </a:xfrm>
          <a:prstGeom prst="line">
            <a:avLst/>
          </a:prstGeom>
          <a:ln w="2159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601200" y="1417320"/>
            <a:ext cx="1965960" cy="1042415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9216" y="1508760"/>
            <a:ext cx="17099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needle_tip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9216" y="1938528"/>
            <a:ext cx="1709928" cy="43891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针尖 site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" y="2697480"/>
            <a:ext cx="10607040" cy="5394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这是父子层级展开图：A、B等效旋转轴在空间中相交于同一个RCM。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749808" y="3447288"/>
          <a:ext cx="10707624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127248"/>
                <a:gridCol w="1280160"/>
                <a:gridCol w="2798064"/>
                <a:gridCol w="2862072"/>
              </a:tblGrid>
              <a:tr h="39090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关节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MuJoCo名称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类型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自身局部轴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内部坐标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39090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A_azimuth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hinge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(0, −1, 0)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a：rad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39090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B_pitch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hinge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(1, 0, 0)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b：rad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39090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C_insertion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slide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(0, 0, −1)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c：m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612648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5632704"/>
            <a:ext cx="10652760" cy="3566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7个qpos不等于7个独立控制自由度；4个visual_B关节随B按正负关系联动。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080760"/>
            <a:ext cx="1088136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来源：rcm_reference.py 的TASK_JOINTS、DEPENDENT_JOINTS与build_xml；局部轴不能替写为通用Rz–Ry链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39327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RCM运动学模型：两轴定向，沿针轴插入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MuJoCo建模 · RCM运动学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等效任务链 · 坐标映射 · 模型边界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04 / 07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676656" y="1261872"/>
            <a:ext cx="64008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1344168"/>
            <a:ext cx="5989320" cy="3383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安装系{M}下的等效任务轴投影 · 不按比例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63240" y="2962656"/>
            <a:ext cx="1259427" cy="436278"/>
          </a:xfrm>
          <a:prstGeom prst="line">
            <a:avLst/>
          </a:prstGeom>
          <a:ln w="1778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59243" y="3435510"/>
            <a:ext cx="71323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x_M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36109" y="2962656"/>
            <a:ext cx="727131" cy="727130"/>
          </a:xfrm>
          <a:prstGeom prst="line">
            <a:avLst/>
          </a:prstGeom>
          <a:ln w="1778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97197" y="3708074"/>
            <a:ext cx="71323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y_M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063240" y="1799246"/>
            <a:ext cx="0" cy="1163410"/>
          </a:xfrm>
          <a:prstGeom prst="line">
            <a:avLst/>
          </a:prstGeom>
          <a:ln w="1778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42616" y="1543214"/>
            <a:ext cx="71323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z_M</a:t>
            </a:r>
          </a:p>
        </p:txBody>
      </p:sp>
      <p:sp>
        <p:nvSpPr>
          <p:cNvPr id="10" name="Freeform 9"/>
          <p:cNvSpPr/>
          <p:nvPr/>
        </p:nvSpPr>
        <p:spPr>
          <a:xfrm>
            <a:off x="2947111" y="2321662"/>
            <a:ext cx="416966" cy="2307031"/>
          </a:xfrm>
          <a:custGeom>
            <a:avLst/>
            <a:gdLst/>
            <a:ahLst/>
            <a:cxnLst/>
            <a:rect l="l" t="t" r="r" b="b"/>
            <a:pathLst>
              <a:path w="456" h="2523">
                <a:moveTo>
                  <a:pt x="0" y="0"/>
                </a:moveTo>
                <a:lnTo>
                  <a:pt x="456" y="2523"/>
                </a:lnTo>
              </a:path>
            </a:pathLst>
          </a:custGeom>
          <a:noFill/>
          <a:ln w="25400">
            <a:solidFill>
              <a:srgbClr val="B8C2C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533802" y="2048256"/>
            <a:ext cx="1759306" cy="3035808"/>
          </a:xfrm>
          <a:custGeom>
            <a:avLst/>
            <a:gdLst/>
            <a:ahLst/>
            <a:cxnLst/>
            <a:rect l="l" t="t" r="r" b="b"/>
            <a:pathLst>
              <a:path w="1924" h="3320">
                <a:moveTo>
                  <a:pt x="0" y="0"/>
                </a:moveTo>
                <a:lnTo>
                  <a:pt x="1924" y="3320"/>
                </a:lnTo>
              </a:path>
            </a:pathLst>
          </a:custGeom>
          <a:noFill/>
          <a:ln w="508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43058" y="5034125"/>
            <a:ext cx="100584" cy="100584"/>
          </a:xfrm>
          <a:prstGeom prst="ellipse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4790" y="4919825"/>
            <a:ext cx="112471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7D92"/>
                </a:solidFill>
                <a:latin typeface="Noto Sans SC"/>
                <a:ea typeface="Noto Sans SC"/>
                <a:cs typeface="Noto Sans SC"/>
              </a:rPr>
              <a:t>P_tip</a:t>
            </a:r>
          </a:p>
        </p:txBody>
      </p:sp>
      <p:sp>
        <p:nvSpPr>
          <p:cNvPr id="38" name="Oval 37"/>
          <p:cNvSpPr/>
          <p:nvPr/>
        </p:nvSpPr>
        <p:spPr>
          <a:xfrm>
            <a:off x="2994660" y="2894076"/>
            <a:ext cx="137160" cy="137160"/>
          </a:xfrm>
          <a:prstGeom prst="ellipse">
            <a:avLst/>
          </a:prstGeom>
          <a:solidFill>
            <a:srgbClr val="B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2596896"/>
            <a:ext cx="160020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4B4B"/>
                </a:solidFill>
                <a:latin typeface="Noto Sans SC"/>
                <a:ea typeface="Noto Sans SC"/>
                <a:cs typeface="Noto Sans SC"/>
              </a:rPr>
              <a:t>O_RCM 固定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70048" y="2834640"/>
            <a:ext cx="393192" cy="128016"/>
          </a:xfrm>
          <a:prstGeom prst="line">
            <a:avLst/>
          </a:prstGeom>
          <a:ln w="15240">
            <a:solidFill>
              <a:srgbClr val="B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63240" y="2021281"/>
            <a:ext cx="941374" cy="941375"/>
          </a:xfrm>
          <a:prstGeom prst="line">
            <a:avLst/>
          </a:prstGeom>
          <a:ln w="381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68038" y="1600657"/>
            <a:ext cx="93268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A轴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3063240" y="2569714"/>
            <a:ext cx="1308000" cy="392942"/>
          </a:xfrm>
          <a:prstGeom prst="line">
            <a:avLst/>
          </a:prstGeom>
          <a:ln w="38100">
            <a:solidFill>
              <a:srgbClr val="C979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16960" y="2441698"/>
            <a:ext cx="950976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97928"/>
                </a:solidFill>
                <a:latin typeface="Noto Sans SC"/>
                <a:ea typeface="Noto Sans SC"/>
                <a:cs typeface="Noto Sans SC"/>
              </a:rPr>
              <a:t>B轴</a:t>
            </a:r>
          </a:p>
        </p:txBody>
      </p:sp>
      <p:sp>
        <p:nvSpPr>
          <p:cNvPr id="12" name="Freeform 11"/>
          <p:cNvSpPr/>
          <p:nvPr/>
        </p:nvSpPr>
        <p:spPr>
          <a:xfrm>
            <a:off x="3063240" y="3897173"/>
            <a:ext cx="580644" cy="64008"/>
          </a:xfrm>
          <a:custGeom>
            <a:avLst/>
            <a:gdLst/>
            <a:ahLst/>
            <a:cxnLst/>
            <a:rect l="l" t="t" r="r" b="b"/>
            <a:pathLst>
              <a:path w="635" h="70">
                <a:moveTo>
                  <a:pt x="0" y="0"/>
                </a:moveTo>
                <a:lnTo>
                  <a:pt x="29" y="10"/>
                </a:lnTo>
                <a:lnTo>
                  <a:pt x="59" y="19"/>
                </a:lnTo>
                <a:lnTo>
                  <a:pt x="88" y="28"/>
                </a:lnTo>
                <a:lnTo>
                  <a:pt x="117" y="35"/>
                </a:lnTo>
                <a:lnTo>
                  <a:pt x="147" y="42"/>
                </a:lnTo>
                <a:lnTo>
                  <a:pt x="176" y="48"/>
                </a:lnTo>
                <a:lnTo>
                  <a:pt x="205" y="54"/>
                </a:lnTo>
                <a:lnTo>
                  <a:pt x="233" y="58"/>
                </a:lnTo>
                <a:lnTo>
                  <a:pt x="262" y="62"/>
                </a:lnTo>
                <a:lnTo>
                  <a:pt x="291" y="65"/>
                </a:lnTo>
                <a:lnTo>
                  <a:pt x="319" y="68"/>
                </a:lnTo>
                <a:lnTo>
                  <a:pt x="347" y="69"/>
                </a:lnTo>
                <a:lnTo>
                  <a:pt x="375" y="70"/>
                </a:lnTo>
                <a:lnTo>
                  <a:pt x="402" y="70"/>
                </a:lnTo>
                <a:lnTo>
                  <a:pt x="429" y="69"/>
                </a:lnTo>
                <a:lnTo>
                  <a:pt x="456" y="68"/>
                </a:lnTo>
                <a:lnTo>
                  <a:pt x="483" y="65"/>
                </a:lnTo>
                <a:lnTo>
                  <a:pt x="509" y="62"/>
                </a:lnTo>
                <a:lnTo>
                  <a:pt x="535" y="58"/>
                </a:lnTo>
                <a:lnTo>
                  <a:pt x="561" y="54"/>
                </a:lnTo>
                <a:lnTo>
                  <a:pt x="586" y="48"/>
                </a:lnTo>
                <a:lnTo>
                  <a:pt x="611" y="42"/>
                </a:lnTo>
                <a:lnTo>
                  <a:pt x="635" y="35"/>
                </a:lnTo>
              </a:path>
            </a:pathLst>
          </a:custGeom>
          <a:noFill/>
          <a:ln w="30480">
            <a:solidFill>
              <a:srgbClr val="4874CB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845052" y="4065422"/>
            <a:ext cx="186538" cy="246888"/>
          </a:xfrm>
          <a:custGeom>
            <a:avLst/>
            <a:gdLst/>
            <a:ahLst/>
            <a:cxnLst/>
            <a:rect l="l" t="t" r="r" b="b"/>
            <a:pathLst>
              <a:path w="204" h="270">
                <a:moveTo>
                  <a:pt x="204" y="0"/>
                </a:moveTo>
                <a:lnTo>
                  <a:pt x="197" y="13"/>
                </a:lnTo>
                <a:lnTo>
                  <a:pt x="189" y="27"/>
                </a:lnTo>
                <a:lnTo>
                  <a:pt x="181" y="40"/>
                </a:lnTo>
                <a:lnTo>
                  <a:pt x="173" y="53"/>
                </a:lnTo>
                <a:lnTo>
                  <a:pt x="165" y="66"/>
                </a:lnTo>
                <a:lnTo>
                  <a:pt x="157" y="79"/>
                </a:lnTo>
                <a:lnTo>
                  <a:pt x="149" y="91"/>
                </a:lnTo>
                <a:lnTo>
                  <a:pt x="141" y="104"/>
                </a:lnTo>
                <a:lnTo>
                  <a:pt x="132" y="116"/>
                </a:lnTo>
                <a:lnTo>
                  <a:pt x="124" y="128"/>
                </a:lnTo>
                <a:lnTo>
                  <a:pt x="115" y="140"/>
                </a:lnTo>
                <a:lnTo>
                  <a:pt x="106" y="152"/>
                </a:lnTo>
                <a:lnTo>
                  <a:pt x="97" y="164"/>
                </a:lnTo>
                <a:lnTo>
                  <a:pt x="88" y="175"/>
                </a:lnTo>
                <a:lnTo>
                  <a:pt x="79" y="186"/>
                </a:lnTo>
                <a:lnTo>
                  <a:pt x="69" y="197"/>
                </a:lnTo>
                <a:lnTo>
                  <a:pt x="60" y="208"/>
                </a:lnTo>
                <a:lnTo>
                  <a:pt x="50" y="219"/>
                </a:lnTo>
                <a:lnTo>
                  <a:pt x="40" y="229"/>
                </a:lnTo>
                <a:lnTo>
                  <a:pt x="31" y="240"/>
                </a:lnTo>
                <a:lnTo>
                  <a:pt x="21" y="250"/>
                </a:lnTo>
                <a:lnTo>
                  <a:pt x="11" y="260"/>
                </a:lnTo>
                <a:lnTo>
                  <a:pt x="0" y="270"/>
                </a:lnTo>
              </a:path>
            </a:pathLst>
          </a:custGeom>
          <a:noFill/>
          <a:ln w="30480">
            <a:solidFill>
              <a:srgbClr val="C97928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2968" y="3685032"/>
            <a:ext cx="4572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904487"/>
            <a:ext cx="4572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97928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252079" y="3822344"/>
            <a:ext cx="649751" cy="1120725"/>
          </a:xfrm>
          <a:prstGeom prst="line">
            <a:avLst/>
          </a:prstGeom>
          <a:ln w="33020">
            <a:solidFill>
              <a:srgbClr val="147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48134" y="4403573"/>
            <a:ext cx="105156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7D92"/>
                </a:solidFill>
                <a:latin typeface="Noto Sans SC"/>
                <a:ea typeface="Noto Sans SC"/>
                <a:cs typeface="Noto Sans SC"/>
              </a:rPr>
              <a:t>C：＋c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15184" y="3145536"/>
            <a:ext cx="1230110" cy="2121761"/>
          </a:xfrm>
          <a:prstGeom prst="line">
            <a:avLst/>
          </a:prstGeom>
          <a:ln w="13970">
            <a:solidFill>
              <a:srgbClr val="64748B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499616" y="3968496"/>
            <a:ext cx="192024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L = L₀＋c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97496" y="1426464"/>
            <a:ext cx="4069080" cy="10058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25512" y="1517904"/>
            <a:ext cx="38130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A：方位转动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25512" y="1947672"/>
            <a:ext cx="3813048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绕−Y_M；a改变针轴方位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97496" y="2697480"/>
            <a:ext cx="4069080" cy="10058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25512" y="2788920"/>
            <a:ext cx="38130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B：俯仰转动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25512" y="3218688"/>
            <a:ext cx="3813048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绕旋转后的＋X_A；b改变俯仰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97496" y="3968496"/>
            <a:ext cx="4069080" cy="10058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5512" y="4059935"/>
            <a:ext cx="381304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C：轴向插入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5512" y="4489704"/>
            <a:ext cx="3813048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沿针轴−Z_B；c增加针尖距离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D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" y="5632704"/>
            <a:ext cx="10652760" cy="3566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A/B改变方向，C改变RCM到针尖的距离；针轴始终通过同一个固定RCM。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080760"/>
            <a:ext cx="1088136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原生可编辑示意；图示a=35°、b=15°，展示比例非实际长度；真实主链与配置见后页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39327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正运动学：从关节坐标到针尖位置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MuJoCo建模 · RCM运动学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等效任务链 · 坐标映射 · 模型边界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05 / 07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731520" y="1298448"/>
            <a:ext cx="10735056" cy="7498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1371600"/>
            <a:ext cx="10515600" cy="603503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内部任务坐标 q=(a,b,c)：角度rad，位移m；显示ABC使用°、°、mm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2313432"/>
            <a:ext cx="1056132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25" b="1" baseline="3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W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tip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= T(p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RCM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) · R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x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(45°) · R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y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(−φ) · R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x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(β) · T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z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(−L)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090672"/>
            <a:ext cx="10515600" cy="5852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2" b="0" baseline="3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W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p</a:t>
            </a:r>
            <a:r>
              <a:rPr sz="1752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tip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= </a:t>
            </a:r>
            <a:r>
              <a:rPr sz="1752" b="0" baseline="3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W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p</a:t>
            </a:r>
            <a:r>
              <a:rPr sz="1752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RCM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＋ L · R</a:t>
            </a:r>
            <a:r>
              <a:rPr sz="1752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x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(45°) R</a:t>
            </a:r>
            <a:r>
              <a:rPr sz="1752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y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(−φ) R</a:t>
            </a:r>
            <a:r>
              <a:rPr sz="1752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x</a:t>
            </a:r>
            <a:r>
              <a:rPr sz="24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(β) · [0,0,−1]</a:t>
            </a:r>
            <a:r>
              <a:rPr sz="1752" b="0" baseline="3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32104" y="3986784"/>
          <a:ext cx="105155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4487"/>
                <a:gridCol w="3648456"/>
                <a:gridCol w="2962656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变量定义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当前零位参数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物理含义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φ=φ₀+a；β=β₀+b；L=L₀+c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φ₀=0°；β₀≈−13.764°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L₀=0.004m（4mm）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方向角含零位偏置；长度含参考偏置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12648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5632704"/>
            <a:ext cx="10652760" cy="3566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显示ABC全零时，针尖仍距RCM约4mm；此偏置目前是暂定值，尚未实测。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80760"/>
            <a:ext cx="1088136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W为世界系；来源：state_from_task、robot_to_world、build_xml；45°安装尚未标定，代入前统一SI单位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39327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RCM约束与模型数值一致性检验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MuJoCo建模 · RCM运动学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等效任务链 · 坐标映射 · 模型边界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06 / 07</a:t>
            </a:r>
            <a:endParaRPr lang="en-US" sz="1100"/>
          </a:p>
        </p:txBody>
      </p:sp>
      <p:sp>
        <p:nvSpPr>
          <p:cNvPr id="28" name="TextBox 27"/>
          <p:cNvSpPr txBox="1"/>
          <p:nvPr/>
        </p:nvSpPr>
        <p:spPr>
          <a:xfrm>
            <a:off x="813816" y="1289304"/>
            <a:ext cx="105613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d</a:t>
            </a:r>
            <a:r>
              <a:rPr sz="1898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W</a:t>
            </a:r>
            <a:r>
              <a:rPr sz="26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= R</a:t>
            </a:r>
            <a:r>
              <a:rPr sz="1898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x</a:t>
            </a:r>
            <a:r>
              <a:rPr sz="26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(45°) R</a:t>
            </a:r>
            <a:r>
              <a:rPr sz="1898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y</a:t>
            </a:r>
            <a:r>
              <a:rPr sz="26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(−φ) R</a:t>
            </a:r>
            <a:r>
              <a:rPr sz="1898" b="0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x</a:t>
            </a:r>
            <a:r>
              <a:rPr sz="2600" b="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(β) [0,0,−1]</a:t>
            </a:r>
            <a:r>
              <a:rPr sz="1898" b="0" baseline="3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1975104"/>
            <a:ext cx="10561320" cy="5943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e</a:t>
            </a:r>
            <a:r>
              <a:rPr sz="2117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RCM</a:t>
            </a:r>
            <a:r>
              <a:rPr sz="29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= ‖(I − d</a:t>
            </a:r>
            <a:r>
              <a:rPr sz="2117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W</a:t>
            </a:r>
            <a:r>
              <a:rPr sz="29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d</a:t>
            </a:r>
            <a:r>
              <a:rPr sz="2117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W</a:t>
            </a:r>
            <a:r>
              <a:rPr sz="2117" b="1" baseline="3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</a:t>
            </a:r>
            <a:r>
              <a:rPr sz="29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)(p</a:t>
            </a:r>
            <a:r>
              <a:rPr sz="2117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tip</a:t>
            </a:r>
            <a:r>
              <a:rPr sz="29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 − p</a:t>
            </a:r>
            <a:r>
              <a:rPr sz="2117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RCM</a:t>
            </a:r>
            <a:r>
              <a:rPr sz="29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)‖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2670048"/>
            <a:ext cx="10561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含义：固定RCM到当前针轴直线的垂直距离为零。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59536" y="3410712"/>
          <a:ext cx="1045159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728"/>
                <a:gridCol w="4581144"/>
                <a:gridCol w="3474720"/>
              </a:tblGrid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检验对象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执行范围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结果解释</a:t>
                      </a:r>
                    </a:p>
                  </a:txBody>
                  <a:tcPr marL="91440" marR="73152" marT="27432" marB="27432" anchor="ctr">
                    <a:solidFill>
                      <a:srgbClr val="DAE3F5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关节结构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3独立任务＋4从属显示；nu=0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确认控制维数与层级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解析FK与MuJoCo site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3个确定姿态，比较针尖位置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差异处于浮点精度量级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针轴通过RCM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各姿态计算轴到RCM距离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满足理想模型几何约束</a:t>
                      </a:r>
                    </a:p>
                  </a:txBody>
                  <a:tcPr marL="91440" marR="73152" marT="27432" marB="27432" anchor="ctr">
                    <a:solidFill>
                      <a:srgbClr val="F8FAFC"/>
                    </a:solidFill>
                    <a:lnL w="5500">
                      <a:solidFill>
                        <a:srgbClr val="FFFFFF"/>
                      </a:solidFill>
                    </a:lnL>
                    <a:lnR w="5500">
                      <a:solidFill>
                        <a:srgbClr val="FFFFFF"/>
                      </a:solidFill>
                    </a:lnR>
                    <a:lnT w="5500">
                      <a:solidFill>
                        <a:srgbClr val="FFFFFF"/>
                      </a:solidFill>
                    </a:lnT>
                    <a:lnB w="55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12648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5632704"/>
            <a:ext cx="10652760" cy="3566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数值一致性证明实现对应同一运动学模型；它不等于实体机器人具有同等精度。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80760"/>
            <a:ext cx="1088136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只读固定姿态检验；不运行导航或训练；具体姿态、误差、源码哈希见numeric_checks.json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448"/>
          <a:stretch>
            <a:fillRect/>
          </a:stretch>
        </p:blipFill>
        <p:spPr>
          <a:xfrm flipV="1">
            <a:off x="0" y="0"/>
            <a:ext cx="12179300" cy="2679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381000" y="3683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10800000" flipV="1">
            <a:off x="279400" y="2159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DAE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406400" y="304800"/>
            <a:ext cx="482600" cy="508000"/>
          </a:xfrm>
          <a:prstGeom prst="homePlate">
            <a:avLst>
              <a:gd name="adj" fmla="val 2680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 rot="10800000" flipV="1">
            <a:off x="304800" y="152400"/>
            <a:ext cx="584200" cy="152400"/>
          </a:xfrm>
          <a:prstGeom prst="parallelogram">
            <a:avLst>
              <a:gd name="adj" fmla="val 55769"/>
            </a:avLst>
          </a:prstGeom>
          <a:solidFill>
            <a:srgbClr val="4874C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93700" y="292100"/>
            <a:ext cx="533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01200" y="279400"/>
            <a:ext cx="20955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054100" y="203200"/>
            <a:ext cx="8339327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编码器映射与当前模型边界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MuJoCo建模 · RCM运动学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38600" y="6362700"/>
            <a:ext cx="4114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等效任务链 · 坐标映射 · 模型边界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106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8288" tIns="9144" rIns="18288" bIns="9144" rtlCol="0" anchor="ctr" anchorCtr="0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07 / 07</a:t>
            </a:r>
            <a:endParaRPr lang="en-US" sz="1100"/>
          </a:p>
        </p:txBody>
      </p:sp>
      <p:sp>
        <p:nvSpPr>
          <p:cNvPr id="28" name="Rounded Rectangle 27"/>
          <p:cNvSpPr/>
          <p:nvPr/>
        </p:nvSpPr>
        <p:spPr>
          <a:xfrm>
            <a:off x="758952" y="1335024"/>
            <a:ext cx="3374136" cy="95097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1426464"/>
            <a:ext cx="311810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实机编码器E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1856231"/>
            <a:ext cx="3118104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零位、符号、比例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69663" y="1801368"/>
            <a:ext cx="301753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07992" y="1335024"/>
            <a:ext cx="3374136" cy="95097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7" y="1426464"/>
            <a:ext cx="311810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名义机构映射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7" y="1856231"/>
            <a:ext cx="3118104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B直线位移 ↔ α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18704" y="1801368"/>
            <a:ext cx="301751" cy="0"/>
          </a:xfrm>
          <a:prstGeom prst="line">
            <a:avLst/>
          </a:prstGeom>
          <a:ln w="25400">
            <a:solidFill>
              <a:srgbClr val="4874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57031" y="1335024"/>
            <a:ext cx="3374136" cy="95097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1426464"/>
            <a:ext cx="311810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任务坐标与针尖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1856231"/>
            <a:ext cx="3118104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φ、α、L ↔ 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2679192"/>
            <a:ext cx="1042416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s</a:t>
            </a:r>
            <a:r>
              <a:rPr sz="1825" b="1" baseline="-25000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B</a:t>
            </a:r>
            <a:r>
              <a:rPr sz="2500" b="1">
                <a:solidFill>
                  <a:srgbClr val="0F172A"/>
                </a:solidFill>
                <a:latin typeface="Noto Sans SC"/>
                <a:latin typeface="Noto Sans SC"/>
                <a:ea typeface="Noto Sans SC"/>
                <a:cs typeface="Noto Sans SC"/>
              </a:rPr>
              <a:t>(α) = 98.48 − 60cosα − √[52² − (60sinα − 16)²]  mm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3310128"/>
            <a:ext cx="10424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α为原程序俯仰角；s_B不是角增量b，位移逆解需选定分支。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" y="4005072"/>
            <a:ext cx="5184648" cy="10881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4096511"/>
            <a:ext cx="492861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已明确的仿真能力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526280"/>
            <a:ext cx="4928616" cy="48463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等效RCM链、几何观测接口、针尖坐标计算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54496" y="4005072"/>
            <a:ext cx="5184648" cy="10881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4096511"/>
            <a:ext cx="492861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仍需实测与建模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526280"/>
            <a:ext cx="4928616" cy="484631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实机杆件/外参/针尖偏置；接触与动力学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" y="559612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5632704"/>
            <a:ext cx="10652760" cy="3566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外观杆件未实测、4mm偏置暂定；无actuator与动力学积分，不能作为实体动力学模型。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080760"/>
            <a:ext cx="1088136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名义参数l₁=60mm、l₂=52mm、h=16mm；α接口用°，三角函数先转rad；外观杆件示意参数另设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825</Words>
  <Application>Microsoft Office PowerPoint</Application>
  <PresentationFormat>宽屏</PresentationFormat>
  <Paragraphs>172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Noto Sans SC</vt:lpstr>
      <vt:lpstr>微软雅黑</vt:lpstr>
      <vt:lpstr>Arial</vt:lpstr>
      <vt:lpstr>Calibri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yang</cp:lastModifiedBy>
  <cp:revision>2</cp:revision>
  <dcterms:modified xsi:type="dcterms:W3CDTF">2026-09-23T08:51:46Z</dcterms:modified>
  <dc:title>MuJoCo建模与RCM运动学模型</dc:title>
  <dc:creator>杨淏博</dc:creator>
  <dc:subject>独立建模汇报；原生可编辑运动学模型图；不修改原PPT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{"Label":"1","ContentProducer":"001191110102MACQD9K64010000","ProduceID":"7688627852144937915","ReservedCode1":"","ContentPropagator":"","PropagateID":"","ReservedCode2":""}</vt:lpwstr>
  </property>
</Properties>
</file>