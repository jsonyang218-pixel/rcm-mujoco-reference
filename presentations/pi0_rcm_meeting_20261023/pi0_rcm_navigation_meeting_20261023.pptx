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661" r:id="rId3"/>
  </p:sldMasterIdLst>
  <p:notesMasterIdLst>
    <p:notesMasterId r:id="rId12"/>
  </p:notesMasterIdLst>
  <p:sldIdLst>
    <p:sldId id="256" r:id="rId9"/>
    <p:sldId id="257" r:id="rId10"/>
    <p:sldId id="258" r:id="rId11"/>
    <p:sldId id="259" r:id="rId8"/>
    <p:sldId id="260" r:id="rId7"/>
    <p:sldId id="261" r:id="rId6"/>
    <p:sldId id="262" r:id="rId5"/>
    <p:sldId id="263" r:id="rId4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建议讲述：20秒。</a:t>
            </a:r>
          </a:p>
          <a:p/>
          <a:p>
            <a:r>
              <a:t>本次汇报围绕一个目标展开：学习π0如何建模机器人策略，建立能够产生合格示范的导航系统，完成初步数据采集与离线训练，再用闭环实验检验学习策略。先用三页介绍π0，再汇报本项目的实验基础和下一步问题。</a:t>
            </a:r>
          </a:p>
          <a:p/>
          <a:p>
            <a:r>
              <a:t>资料与边界：</a:t>
            </a:r>
          </a:p>
          <a:p>
            <a:r>
              <a:t>Black et al., π0: A Vision-Language-Action Flow Model for General Robot Control, 2024, arXiv:2410.24164</a:t>
            </a:r>
          </a:p>
          <a:p>
            <a:r>
              <a:t>/workspace/rcm-mujoco-reference/reports/20261022/meeting/rawframes/strict_three_ep000000_frame001288.png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建议讲述：50秒。</a:t>
            </a:r>
          </a:p>
          <a:p/>
          <a:p>
            <a:r>
              <a:t>任务是在固定RCM约束下，按给定顺序完成随机三点或五点导航。目标放在眼球后部椭球表面，用它作为眼底代理；当前逐个呈现目标，没有验证多病灶识别和自主排序。验收要求独立终点误差低于20微米，并检查停稳和运动约束。三个实际困难是观测不足、遮挡，以及从固定场景转向不同布局。</a:t>
            </a:r>
          </a:p>
          <a:p/>
          <a:p>
            <a:r>
              <a:t>资料与边界：</a:t>
            </a:r>
          </a:p>
          <a:p>
            <a:r>
              <a:t>项目证据：reports/20261022/meeting；理想RGB-D仿真</a:t>
            </a:r>
          </a:p>
          <a:p>
            <a:r>
              <a:t>示意图为原生PPT对象，不按比例，不是实验重建结果。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建议讲述：70秒。</a:t>
            </a:r>
          </a:p>
          <a:p/>
          <a:p>
            <a:r>
              <a:t>π0面向通用机器人控制，将图像、语言任务与机器人状态共同作为条件。图中视觉语言骨干承担视觉与任务表征，动作专家负责生成连续控制量；两者通过模型结构中的注意力交互连接。这不是把大语言模型的文字输出直接当作机器人动作。论文将来自不同机器人与任务的数据组织到同一个策略框架，动作专家再学习连续动作分布。这里阅读的是2024年的π0，不混入π0.5的后续设计。</a:t>
            </a:r>
          </a:p>
          <a:p/>
          <a:p>
            <a:r>
              <a:t>资料与边界：</a:t>
            </a:r>
          </a:p>
          <a:p>
            <a:r>
              <a:t>Black et al., π0: A Vision-Language-Action Flow Model for General Robot Control, 2024, arXiv:2410.24164</a:t>
            </a:r>
          </a:p>
          <a:p>
            <a:r>
              <a:t>原论文Figure 3；图片文件 /workspace/exports/pi0_rcm_meeting_20261023/paper/pi0_figure3_framework.png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建议讲述：90秒。</a:t>
            </a:r>
          </a:p>
          <a:p/>
          <a:p>
            <a:r>
              <a:t>动作块表示一次预测未来一段连续动作，而不是只输出下一步。π0采用H等于50，但并非50步全执行完才反馈：附录中的20Hz平台执行16步后重新推理，50Hz平台执行25步。Flow Matching训练从真实示范与高斯噪声构造中间状态，在观测条件下预测动作空间的速度场。τ从0到1，Aτ等于一减τ乘噪声加τ乘真实动作，目标方向为A减ε。推理从噪声出发，用学习到的速度场做10步前向Euler积分，得到动作块。10个积分步、50步动作块与最高50Hz执行频率是不同概念。这个生成目标也不同于本项目目前的单步动作回归。</a:t>
            </a:r>
          </a:p>
          <a:p/>
          <a:p>
            <a:r>
              <a:t>资料与边界：</a:t>
            </a:r>
          </a:p>
          <a:p>
            <a:r>
              <a:t>Black et al., π0: A Vision-Language-Action Flow Model for General Robot Control, 2024, arXiv:2410.24164</a:t>
            </a:r>
          </a:p>
          <a:p>
            <a:r>
              <a:t>原论文§IV和附录B/D；显式补写τ作为条件变量，便于讲解。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建议讲述：80秒。</a:t>
            </a:r>
          </a:p>
          <a:p/>
          <a:p>
            <a:r>
              <a:t>π0给本项目的启发是数据和训练配方：多样化预训练获得广覆盖，目标任务后训练使执行更熟练。左图为Figure13下半图，保留fine-tuned、scratch和out-of-box对照；纵轴是每任务10次评估的平均任务进度，不是成功率。总体上两阶段组合在多数复杂任务更好，但装鸡蛋任务中scratch略高，说明不是所有任务都最优。这也不是隔离数据质量单项因素的因果实验。对应到本项目，目前先用可追溯的专家闭环采随机多目标示范，训练轻量RGB加状态基线，输出单步ABC增量，并无语言、VLM或Flow Matching。下一步先检验减少运行时理想深度依赖后，能否在留出布局完成闭环，再考虑动作块等方向。</a:t>
            </a:r>
          </a:p>
          <a:p/>
          <a:p>
            <a:r>
              <a:t>资料与边界：</a:t>
            </a:r>
          </a:p>
          <a:p>
            <a:r>
              <a:t>Black et al., π0: A Vision-Language-Action Flow Model for General Robot Control, 2024, arXiv:2410.24164</a:t>
            </a:r>
          </a:p>
          <a:p>
            <a:r>
              <a:t>Figure13；平均任务进度，每任务10次。scratch意为未使用机器人预训练，不能说完全无预训练。</a:t>
            </a:r>
          </a:p>
          <a:p>
            <a:r>
              <a:t>项目证据：random_policy_overnight_20261022 / round_03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建议讲述：60秒。</a:t>
            </a:r>
          </a:p>
          <a:p/>
          <a:p>
            <a:r>
              <a:t>为训练策略，先建立能够产生合格示范的专家流程。RGB与理想深度经过测量，进入受限视觉伺服，再执行ABC动作并重新采图。场景目标真值不进入严格视觉控制目标，而作为独立验收支路。两个具体修正是：采用正负扰动中心差分，恢复像素量化下失去的雅可比方向；提高实际渲染分辨率，改善针尖不可见问题。这些有同姿态或同帧的直接证据，但不能把整体精度改善全部归因于其中某一项。</a:t>
            </a:r>
          </a:p>
          <a:p/>
          <a:p>
            <a:r>
              <a:t>资料与边界：</a:t>
            </a:r>
          </a:p>
          <a:p>
            <a:r>
              <a:t>项目证据：reports/20261022/meeting；理想RGB-D仿真</a:t>
            </a:r>
          </a:p>
          <a:p>
            <a:r>
              <a:t>用户提供的48条实验日志：中心差分故障姿态及2×分辨率同帧回放。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建议讲述：60秒。</a:t>
            </a:r>
          </a:p>
          <a:p/>
          <a:p>
            <a:r>
              <a:t>这是一个固定三点任务，不是三次独立重复实验。左图来自实际执行轨迹，能看到跨点回撤、转向和接近；右图给出独立三维终点误差：6.634、6.085和6.268微米，都低于20微米。每点还通过至少三帧零指令速度的停稳验收，速率和边界检查也通过。这里验证的是理想RGB-D条件下专家视觉控制器的能力，后续学习策略的结果不能直接使用这些终点精度。</a:t>
            </a:r>
          </a:p>
          <a:p/>
          <a:p>
            <a:r>
              <a:t>资料与边界：</a:t>
            </a:r>
          </a:p>
          <a:p>
            <a:r>
              <a:t>项目证据：reports/20261022/meeting；理想RGB-D仿真</a:t>
            </a:r>
          </a:p>
          <a:p>
            <a:r>
              <a:t>reports/20261022/meeting/evidence/strict_three/visual_servo/trajectory.csv</a:t>
            </a:r>
          </a:p>
          <a:p>
            <a:r>
              <a:t>reports/20261022/meeting/endpoint_metrics.csv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建议讲述：90秒。</a:t>
            </a:r>
          </a:p>
          <a:p/>
          <a:p>
            <a:r>
              <a:t>遮挡恢复采用静态目标记忆与重观测。目标可见时积累可靠测量，短时遮挡使用受限记忆；持续失观测时受限回撤并重新观测，连续有效后恢复。条件是相机固定、目标静态，而且针尖必须仍有新鲜观测。这里展示旧的同源配对实验：两组使用相同reset、目标和实体遮挡计划。stop在P1失去目标后中止，仅尝试一个目标，后两个没有运行；恢复组完成三点，最大误差6.442微米，使用24个记忆帧和一次恢复。stop还未通过独立加速度约束，所以不能称为安全制动。这个结果只支持该固定场景的可行性，不是统计成功率。</a:t>
            </a:r>
          </a:p>
          <a:p/>
          <a:p>
            <a:r>
              <a:t>资料与边界：</a:t>
            </a:r>
          </a:p>
          <a:p>
            <a:r>
              <a:t>项目证据：reports/20261022/meeting；理想RGB-D仿真</a:t>
            </a:r>
          </a:p>
          <a:p>
            <a:r>
              <a:t>旧同源配对primary实验，完成于OCT包装接口接入前；图帧与6.442微米指标来自对应episode。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建议讲述：35秒。</a:t>
            </a:r>
          </a:p>
          <a:p/>
          <a:p>
            <a:r>
              <a:t>深度接口记录深度、有效区域、帧ID和时间戳。这里展示接入接口后的本地复验，和前一页的旧配对实验分别呈现。本地A在23.506微米处未通过精度验收，B失观测中止，C完成三点，误差约10到11微米。补充包已经归档审计通过并发布，但三组初始条件不完全相同，不能作为严格公平对照。当前是MuJoCo理想注册深度，不是真实OCT。</a:t>
            </a:r>
          </a:p>
          <a:p/>
          <a:p>
            <a:r>
              <a:t>资料与边界：</a:t>
            </a:r>
          </a:p>
          <a:p>
            <a:r>
              <a:t>补充证据：10c4656；primary与local_diagnostic分开统计</a:t>
            </a:r>
          </a:p>
          <a:p>
            <a:r>
              <a:t>reports/20261022/oct_three_group_79afacc/metrics.json local_diagnostic</a:t>
            </a:r>
          </a:p>
          <a:p>
            <a:r>
              <a:t>原primary三组不含OCT日志；原图figure06来自本地C/P3。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建议讲述：75秒。</a:t>
            </a:r>
          </a:p>
          <a:p/>
          <a:p>
            <a:r>
              <a:t>在固定场景可行后，进一步随机设置三点或五点布局。共尝试19个任务，16个合格、三个失败。所有尝试保存30441张RGB，其中合格训练集合计26705帧；按完整任务和布局划分为12个训练、两个验证、两个测试episode，避免相邻帧泄漏。合格示教包含64个目标，都到达并停稳，最大独立误差14.981微米。三个失败保留在原始记录中，没有作为成功示范混入训练。下方展示数据对齐关系；每条样本可追溯RGB、状态、动作和下一帧状态。这里的精度仍属于专家。</a:t>
            </a:r>
          </a:p>
          <a:p/>
          <a:p>
            <a:r>
              <a:t>资料与边界：</a:t>
            </a:r>
          </a:p>
          <a:p>
            <a:r>
              <a:t>项目证据：random_policy_overnight_20261022 / round_03</a:t>
            </a:r>
          </a:p>
          <a:p>
            <a:r>
              <a:t>project_assets/sources_and_values.json</a:t>
            </a:r>
          </a:p>
          <a:p>
            <a:r>
              <a:t>project_assets/aligned_sample.json：保留真实值和来源；图中布局坐标仅用于场景展示与验收。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建议讲述：60秒。</a:t>
            </a:r>
          </a:p>
          <a:p/>
          <a:p>
            <a:r>
              <a:t>当前模型是轻量单步监督模仿学习基线。共享CNN分别编码96乘96的全局RGB和64乘64的目标局部图像。随后拼接图像特征、标准化后的ABC状态，以及RGB中心和可见性数值特征，经动作MLP输出归一化的下一步ABC增量。RGB数值特征不作为卷积输入，模型也没有独立的状态MLP编码器。监督标签由专家日志中下一帧状态减当前状态构造，图像与动作时间对齐已经检查；损失按实际时间间隔加权。策略不读取仿真深度、分割、场景目标真值、控制阶段或目标ID。这不是π0复现；先验证视觉信息与数据流程，再考虑动作块和Flow Matching。</a:t>
            </a:r>
          </a:p>
          <a:p/>
          <a:p>
            <a:r>
              <a:t>资料与边界：</a:t>
            </a:r>
          </a:p>
          <a:p>
            <a:r>
              <a:t>项目证据：random_policy_overnight_20261022 / round_03</a:t>
            </a:r>
          </a:p>
          <a:p>
            <a:r>
              <a:t>rcm_imitation_data.py；rcm_behavior_policy.py:105–141；train_behavior_cloning.py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建议讲述：75秒。</a:t>
            </a:r>
          </a:p>
          <a:p/>
          <a:p>
            <a:r>
              <a:t>最终按验证集选择第三轮模型，再对留出的两个布局做一次独立测试：一个三点任务、一个五点任务。时间加权归一化一步动作MSE，RGB加状态是0.1203，仅状态是0.2067，相对下降41.8%；zero-hold和状态最近邻也作为对照。收益主要来自A、B方向，C轴动作MAE为11.162微米，仍略高于仅状态的10.472微米，因此不能笼统地说每个轴都改善。测试只包含两个episode，且是离线预测；模型尚未放入闭环，不能由这个MSE推导到达率或20微米终点精度。</a:t>
            </a:r>
          </a:p>
          <a:p/>
          <a:p>
            <a:r>
              <a:t>资料与边界：</a:t>
            </a:r>
          </a:p>
          <a:p>
            <a:r>
              <a:t>项目证据：random_policy_overnight_20261022 / round_03</a:t>
            </a:r>
          </a:p>
          <a:p>
            <a:r>
              <a:t>round_03/training_report.json；round_03/test_comparison.csv</a:t>
            </a:r>
          </a:p>
          <a:p>
            <a:r>
              <a:t>C轴单位由毫米乘1000换为微米，仅用于动作MAE。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建议讲述：45秒。</a:t>
            </a:r>
          </a:p>
          <a:p/>
          <a:p>
            <a:r>
              <a:t>下一步先统一代码、初始条件和测试布局，再把学习策略真正放到闭环里，与专家在同一批任务上配对比较。主要指标是整任务完成率、独立三维终点误差、停稳和约束违例，同时保留所有失败。基础闭环通过后，再扩大遮挡、噪声和延迟条件。π0的动作块与Flow Matching可以作为后续模型方向，但当前优先回答一个具体问题：减少运行时理想深度依赖后，RGB加状态策略能否在留出布局完成导航。</a:t>
            </a:r>
          </a:p>
          <a:p/>
          <a:p>
            <a:r>
              <a:t>资料与边界：</a:t>
            </a:r>
          </a:p>
          <a:p>
            <a:r>
              <a:t>用户确认的下一步实验目标；无新的性能结果。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备份页，不计入正文讲述时间。</a:t>
            </a:r>
          </a:p>
          <a:p/>
          <a:p>
            <a:r>
              <a:t>补充包的发布提交是10c4656，基于79afacc，main未改动。发布版本可核验，但包内仍保留采集时未核验提交、使用local fallback的说明，因此不能以分支父提交反向证明所有实验使用相同采集代码。复现时按运行ID、源码哈希、配置和初始条件对应。日志中的编译、复核与复制材料不算新增导航。</a:t>
            </a:r>
          </a:p>
          <a:p/>
          <a:p>
            <a:r>
              <a:t>资料与边界：</a:t>
            </a:r>
          </a:p>
          <a:p>
            <a:r>
              <a:t>https://github.com/jsonyang218-pixel/rcm-mujoco-reference</a:t>
            </a:r>
          </a:p>
          <a:p>
            <a:r>
              <a:t>10c4656:reports/20261022/oct_three_group_79afacc/provenance.json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备份页，不计入正文讲述时间。</a:t>
            </a:r>
          </a:p>
          <a:p/>
          <a:p>
            <a:r>
              <a:t>本页把原始三组和接入OCT包装接口后的本地复验分开。原始A/C成功、B失败，旧三组本身没有OCT序列日志；本地A/B失败、C成功。阶段完整深度只留末帧，JSONL保存序列元数据，不能说每帧完整原始OCT都已采集。记录的渲染中位为0.471秒每帧，不能由名义20Hz采样频率推导真实实时能力。审计PASS只说明所覆盖的归档检查通过。</a:t>
            </a:r>
          </a:p>
          <a:p/>
          <a:p>
            <a:r>
              <a:t>资料与边界：</a:t>
            </a:r>
          </a:p>
          <a:p>
            <a:r>
              <a:t>补充证据：10c4656；primary与local_diagnostic分开统计</a:t>
            </a:r>
          </a:p>
          <a:p>
            <a:r>
              <a:t>reports/20261022/oct_p1_final/oct_closed_loop_verification.json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备份页，不计入正文讲述时间。</a:t>
            </a:r>
          </a:p>
          <a:p/>
          <a:p>
            <a:r>
              <a:t>验证集随递增训练数据的三轮结果如表，第三轮最佳，但数据量、种子和epoch上限同时变化，因此只能描述实际训练过程，不能作为纯数据规模消融。归一化尺度为A0.2度、B0.1度、C0.03毫米，损失按实际时间间隔加权，测试集未参与选择。局部控制回归与规划失观测闭锁检查分别列出。制作使用scientific-slides和Supervisor-Skills辅助，软件来源见随附来源与审查文件，它们不是性能结果来源。</a:t>
            </a:r>
          </a:p>
          <a:p/>
          <a:p>
            <a:r>
              <a:t>资料与边界：</a:t>
            </a:r>
          </a:p>
          <a:p>
            <a:r>
              <a:t>项目证据：random_policy_overnight_20261022 / round_03</a:t>
            </a:r>
          </a:p>
          <a:p>
            <a:r>
              <a:t>Scientific Slides v1.12, K-Dense, commit593377bb048752abb0152deab9fbb1083a6087df</a:t>
            </a:r>
          </a:p>
          <a:p>
            <a:r>
              <a:t>Supervisor-Skills, HKUSTDial, commita20d76ef3979b804d7dbf599d577826957e0a8a9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1666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61950" algn="ctr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4AEAE621-C74E-41E0-A333-1FAE6B0C3E21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1F38EF5-E669-4163-80FD-01AD8F748D7E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DE63829-DA99-46C8-8D7B-ACA8533C5B02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1A30B30-85C1-4A96-B94D-3FEE5D54BBD5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5C4A497-3C2B-4F0D-A4AD-461871920D9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14FEE57-D456-4158-BE5C-861ECFD0992C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FE4C8F6-B6A6-46AB-BB84-DD4E154BAA6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81000" algn="l">
              <a:lnSpc>
                <a:spcPct val="91666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AA18506-396C-4F25-825F-DCE13978A5A2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4A5D9CC-F177-4263-A04B-3E05EB36BB3D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D176292-2BD0-4D72-A3A8-7B6E094BC5D0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18BCB25-E422-4A29-8B9E-729E7B06A349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BFF30B6-98C7-4A10-B567-66D79B33125F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00" r:id="rId1"/>
    <p:sldLayoutId id="2157483701" r:id="rId2"/>
    <p:sldLayoutId id="2157483702" r:id="rId3"/>
    <p:sldLayoutId id="2157483703" r:id="rId4"/>
    <p:sldLayoutId id="2157483704" r:id="rId5"/>
    <p:sldLayoutId id="2157483705" r:id="rId6"/>
    <p:sldLayoutId id="2157483706" r:id="rId7"/>
    <p:sldLayoutId id="2157483707" r:id="rId8"/>
    <p:sldLayoutId id="2157483708" r:id="rId9"/>
    <p:sldLayoutId id="2157483709" r:id="rId10"/>
    <p:sldLayoutId id="215748371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 rot="-1560000">
            <a:off x="241300" y="4610100"/>
            <a:ext cx="1841500" cy="1841500"/>
          </a:xfrm>
          <a:prstGeom prst="donut">
            <a:avLst>
              <a:gd name="adj" fmla="val 25000"/>
            </a:avLst>
          </a:prstGeom>
          <a:gradFill rotWithShape="1">
            <a:gsLst>
              <a:gs pos="0">
                <a:srgbClr val="FFFFFF">
                  <a:alpha val="100000"/>
                </a:srgbClr>
              </a:gs>
              <a:gs pos="34000">
                <a:srgbClr val="FFFFFF">
                  <a:alpha val="0"/>
                </a:srgbClr>
              </a:gs>
              <a:gs pos="100000">
                <a:srgbClr val="7598D3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Freeform 3"/>
          <p:cNvSpPr/>
          <p:nvPr/>
        </p:nvSpPr>
        <p:spPr>
          <a:xfrm rot="10800000">
            <a:off x="8064500" y="3937000"/>
            <a:ext cx="4125697" cy="2921419"/>
          </a:xfrm>
          <a:custGeom>
            <a:avLst/>
            <a:gdLst/>
            <a:ahLst/>
            <a:cxnLst/>
            <a:rect l="l" t="t" r="r" b="b"/>
            <a:pathLst>
              <a:path w="4125697" h="2921419">
                <a:moveTo>
                  <a:pt x="878848" y="2921419"/>
                </a:moveTo>
                <a:cubicBezTo>
                  <a:pt x="653430" y="2921419"/>
                  <a:pt x="433349" y="2898578"/>
                  <a:pt x="220791" y="2855082"/>
                </a:cubicBezTo>
                <a:lnTo>
                  <a:pt x="0" y="2798309"/>
                </a:lnTo>
                <a:lnTo>
                  <a:pt x="0" y="1030615"/>
                </a:lnTo>
                <a:lnTo>
                  <a:pt x="100646" y="1091759"/>
                </a:lnTo>
                <a:cubicBezTo>
                  <a:pt x="331977" y="1217426"/>
                  <a:pt x="597077" y="1288807"/>
                  <a:pt x="878848" y="1288807"/>
                </a:cubicBezTo>
                <a:cubicBezTo>
                  <a:pt x="1611453" y="1288807"/>
                  <a:pt x="2231354" y="806267"/>
                  <a:pt x="2438061" y="141682"/>
                </a:cubicBezTo>
                <a:lnTo>
                  <a:pt x="2474492" y="0"/>
                </a:lnTo>
                <a:lnTo>
                  <a:pt x="4125697" y="0"/>
                </a:lnTo>
                <a:lnTo>
                  <a:pt x="4077735" y="314250"/>
                </a:lnTo>
                <a:cubicBezTo>
                  <a:pt x="3773265" y="1802159"/>
                  <a:pt x="2456764" y="2921419"/>
                  <a:pt x="878848" y="2921419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0"/>
                </a:srgbClr>
              </a:gs>
              <a:gs pos="22000">
                <a:srgbClr val="FFFFFF">
                  <a:alpha val="0"/>
                </a:srgbClr>
              </a:gs>
              <a:gs pos="100000">
                <a:srgbClr val="7598D3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1460500"/>
            <a:ext cx="12192000" cy="3327400"/>
          </a:xfrm>
          <a:prstGeom prst="roundRect">
            <a:avLst>
              <a:gd name="adj" fmla="val 0"/>
            </a:avLst>
          </a:prstGeom>
          <a:gradFill rotWithShape="1">
            <a:gsLst>
              <a:gs pos="11000">
                <a:srgbClr val="2B47AA">
                  <a:alpha val="100000"/>
                </a:srgbClr>
              </a:gs>
              <a:gs pos="87000">
                <a:srgbClr val="046DC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49808" y="1828800"/>
            <a:ext cx="7223760" cy="16459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π0 论文阅读与</a:t>
            </a:r>
            <a:endParaRPr lang="en-US" sz="11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眼底机器人导航策略学习进展</a:t>
            </a:r>
          </a:p>
        </p:txBody>
      </p:sp>
      <p:sp>
        <p:nvSpPr>
          <p:cNvPr id="6" name="AutoShape 6"/>
          <p:cNvSpPr/>
          <p:nvPr/>
        </p:nvSpPr>
        <p:spPr>
          <a:xfrm>
            <a:off x="768096" y="3840480"/>
            <a:ext cx="7223760" cy="5029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7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论文建模思路 → 专家示范 → 数据与离线训练 → 闭环检验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895600" y="5181600"/>
            <a:ext cx="2527300" cy="304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FFFFFF">
                  <a:alpha val="8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2895600" y="5168900"/>
            <a:ext cx="2527300" cy="393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 b="0">
                <a:solidFill>
                  <a:srgbClr val="143295"/>
                </a:solidFill>
                <a:latin typeface="Noto Sans SC"/>
                <a:ea typeface="Noto Sans SC"/>
                <a:cs typeface="Noto Sans SC"/>
              </a:rPr>
              <a:t>汇报人：杨淏博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72200" y="5181600"/>
            <a:ext cx="1727200" cy="304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FFFFFF">
                  <a:alpha val="8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918200" y="5181600"/>
            <a:ext cx="2552700" cy="393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 b="0">
                <a:solidFill>
                  <a:srgbClr val="143295"/>
                </a:solidFill>
                <a:latin typeface="Noto Sans SC"/>
                <a:ea typeface="Noto Sans SC"/>
                <a:cs typeface="Noto Sans SC"/>
              </a:rPr>
              <a:t>日期：2026.10.23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38600" y="330200"/>
            <a:ext cx="3479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2" name="Picture 11" descr="严格视觉三点实验的原始RGB，仿真传感器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45944"/>
            <a:ext cx="3246120" cy="243459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0" y="4361688"/>
            <a:ext cx="3246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原始传感器RGB · MuJoCo仿真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448"/>
          <a:stretch>
            <a:fillRect/>
          </a:stretch>
        </p:blipFill>
        <p:spPr>
          <a:xfrm flipV="1">
            <a:off x="0" y="0"/>
            <a:ext cx="12179300" cy="2679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5400000">
            <a:off x="381000" y="3683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279400" y="2159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0">
            <a:off x="406400" y="3048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304800" y="1524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93700" y="292100"/>
            <a:ext cx="5334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01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01200" y="279400"/>
            <a:ext cx="20955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054100" y="203200"/>
            <a:ext cx="832104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9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眼底多目标导航任务与当前研究目标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任务定义与研究目标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038600" y="6362700"/>
            <a:ext cx="41148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π0论文阅读 · 眼底导航策略学习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6106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02 / 13</a:t>
            </a:r>
            <a:endParaRPr lang="en-US" sz="1100"/>
          </a:p>
        </p:txBody>
      </p:sp>
      <p:sp>
        <p:nvSpPr>
          <p:cNvPr id="28" name="Rounded Rectangle 27"/>
          <p:cNvSpPr/>
          <p:nvPr/>
        </p:nvSpPr>
        <p:spPr>
          <a:xfrm>
            <a:off x="640080" y="1280160"/>
            <a:ext cx="5943600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47672" y="1600200"/>
            <a:ext cx="3246120" cy="3246120"/>
          </a:xfrm>
          <a:prstGeom prst="ellipse">
            <a:avLst/>
          </a:prstGeom>
          <a:solidFill>
            <a:srgbClr val="DAE3F5"/>
          </a:solidFill>
          <a:ln w="10160">
            <a:solidFill>
              <a:srgbClr val="487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47288" y="1737360"/>
            <a:ext cx="109728" cy="109728"/>
          </a:xfrm>
          <a:prstGeom prst="ellipse">
            <a:avLst/>
          </a:prstGeom>
          <a:solidFill>
            <a:srgbClr val="48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3502152" y="1792224"/>
            <a:ext cx="813816" cy="2505456"/>
          </a:xfrm>
          <a:prstGeom prst="line">
            <a:avLst/>
          </a:prstGeom>
          <a:ln w="50800">
            <a:solidFill>
              <a:srgbClr val="487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063240" y="932688"/>
            <a:ext cx="438912" cy="859536"/>
          </a:xfrm>
          <a:prstGeom prst="line">
            <a:avLst/>
          </a:prstGeom>
          <a:ln w="381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279392" y="4251960"/>
            <a:ext cx="128016" cy="128016"/>
          </a:xfrm>
          <a:prstGeom prst="ellipse">
            <a:avLst/>
          </a:prstGeom>
          <a:solidFill>
            <a:srgbClr val="C97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98264" y="4142232"/>
            <a:ext cx="50292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97928"/>
                </a:solidFill>
                <a:latin typeface="Noto Sans SC"/>
                <a:ea typeface="Noto Sans SC"/>
                <a:cs typeface="Noto Sans SC"/>
              </a:rPr>
              <a:t>P1</a:t>
            </a:r>
          </a:p>
        </p:txBody>
      </p:sp>
      <p:sp>
        <p:nvSpPr>
          <p:cNvPr id="35" name="Oval 34"/>
          <p:cNvSpPr/>
          <p:nvPr/>
        </p:nvSpPr>
        <p:spPr>
          <a:xfrm>
            <a:off x="3273552" y="4443984"/>
            <a:ext cx="128016" cy="128016"/>
          </a:xfrm>
          <a:prstGeom prst="ellipse">
            <a:avLst/>
          </a:prstGeom>
          <a:solidFill>
            <a:srgbClr val="C97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92424" y="4334256"/>
            <a:ext cx="50292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97928"/>
                </a:solidFill>
                <a:latin typeface="Noto Sans SC"/>
                <a:ea typeface="Noto Sans SC"/>
                <a:cs typeface="Noto Sans SC"/>
              </a:rPr>
              <a:t>P2</a:t>
            </a:r>
          </a:p>
        </p:txBody>
      </p:sp>
      <p:sp>
        <p:nvSpPr>
          <p:cNvPr id="37" name="Oval 36"/>
          <p:cNvSpPr/>
          <p:nvPr/>
        </p:nvSpPr>
        <p:spPr>
          <a:xfrm>
            <a:off x="2542032" y="4096512"/>
            <a:ext cx="128016" cy="128016"/>
          </a:xfrm>
          <a:prstGeom prst="ellipse">
            <a:avLst/>
          </a:prstGeom>
          <a:solidFill>
            <a:srgbClr val="C97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60903" y="3986784"/>
            <a:ext cx="50292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97928"/>
                </a:solidFill>
                <a:latin typeface="Noto Sans SC"/>
                <a:ea typeface="Noto Sans SC"/>
                <a:cs typeface="Noto Sans SC"/>
              </a:rPr>
              <a:t>P3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" y="1847088"/>
            <a:ext cx="1207008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874CB"/>
                </a:solidFill>
                <a:latin typeface="Noto Sans SC"/>
                <a:ea typeface="Noto Sans SC"/>
                <a:cs typeface="Noto Sans SC"/>
              </a:rPr>
              <a:t>固定 RCM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2029968" y="1847088"/>
            <a:ext cx="1408176" cy="219455"/>
          </a:xfrm>
          <a:prstGeom prst="line">
            <a:avLst/>
          </a:prstGeom>
          <a:ln w="1778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07992" y="2898648"/>
            <a:ext cx="155448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针尖 / 针轴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4087368" y="3319272"/>
            <a:ext cx="438912" cy="301752"/>
          </a:xfrm>
          <a:prstGeom prst="line">
            <a:avLst/>
          </a:prstGeom>
          <a:ln w="1778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32688" y="4663440"/>
            <a:ext cx="5175504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眼球后部椭球表面作为眼底代理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" y="1335024"/>
            <a:ext cx="34747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任务几何示意 · 不按比例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03720" y="1307592"/>
            <a:ext cx="4617720" cy="10698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31736" y="1399032"/>
            <a:ext cx="436168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给定顺序的连续导航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31736" y="1828800"/>
            <a:ext cx="4361688" cy="466343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随机3点 / 5点，目标逐个呈现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03720" y="2606040"/>
            <a:ext cx="4617720" cy="10698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31736" y="2697480"/>
            <a:ext cx="436168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终点验收 &lt;20 μm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31736" y="3127248"/>
            <a:ext cx="4361688" cy="466343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同时检查停稳、速率与失败原因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03720" y="3904487"/>
            <a:ext cx="4617720" cy="10698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31736" y="3995927"/>
            <a:ext cx="436168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本阶段聚焦策略学习基础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31736" y="4425696"/>
            <a:ext cx="4361688" cy="466343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观测稳定性 · 遮挡 · 跨布局控制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9904" y="5596128"/>
            <a:ext cx="10972800" cy="448056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8" y="5623560"/>
            <a:ext cx="10698480" cy="3749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当前验证对象：仿真目标点导航；多病灶识别、真实穿刺另行研究。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" y="6080760"/>
            <a:ext cx="10927080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项目证据：reports/20261022/meeting；理想RGB-D仿真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448"/>
          <a:stretch>
            <a:fillRect/>
          </a:stretch>
        </p:blipFill>
        <p:spPr>
          <a:xfrm flipV="1">
            <a:off x="0" y="0"/>
            <a:ext cx="12179300" cy="2679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5400000">
            <a:off x="381000" y="3683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279400" y="2159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0">
            <a:off x="406400" y="3048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304800" y="1524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93700" y="292100"/>
            <a:ext cx="5334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01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01200" y="279400"/>
            <a:ext cx="20955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054100" y="203200"/>
            <a:ext cx="832104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9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π0：将视觉语言模型用于机器人控制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π0论文阅读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038600" y="6362700"/>
            <a:ext cx="41148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π0论文阅读 · 眼底导航策略学习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6106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03 / 13</a:t>
            </a:r>
            <a:endParaRPr lang="en-US" sz="1100"/>
          </a:p>
        </p:txBody>
      </p:sp>
      <p:pic>
        <p:nvPicPr>
          <p:cNvPr id="28" name="Picture 27" descr="π0论文Figure 3原图：视觉语言模型与动作专家的总体框架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24" y="1280160"/>
            <a:ext cx="10820991" cy="3108959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58368" y="4599432"/>
            <a:ext cx="3383280" cy="8229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4690872"/>
            <a:ext cx="312724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PaliGemma VLM ≈3B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120640"/>
            <a:ext cx="3127248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图像与语言表征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07408" y="4599432"/>
            <a:ext cx="3383280" cy="8229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35424" y="4690872"/>
            <a:ext cx="312724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动作专家 ≈300M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35424" y="5120640"/>
            <a:ext cx="3127248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处理状态与带噪动作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56448" y="4599432"/>
            <a:ext cx="3383280" cy="8229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84464" y="4690872"/>
            <a:ext cx="312724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输出连续动作块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4464" y="5120640"/>
            <a:ext cx="3127248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联合建模未来H步动作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904" y="5596128"/>
            <a:ext cx="10972800" cy="448056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5623560"/>
            <a:ext cx="10698480" cy="3749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π0把视觉语言表征与连续动作生成连接起来。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" y="6080760"/>
            <a:ext cx="10927080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原论文 Figure 3；Black et al., π0: A Vision-Language-Action Flow Model for General Robot Control, 2024, arXiv:2410.24164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448"/>
          <a:stretch>
            <a:fillRect/>
          </a:stretch>
        </p:blipFill>
        <p:spPr>
          <a:xfrm flipV="1">
            <a:off x="0" y="0"/>
            <a:ext cx="12179300" cy="2679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5400000">
            <a:off x="381000" y="3683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279400" y="2159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0">
            <a:off x="406400" y="3048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304800" y="1524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93700" y="292100"/>
            <a:ext cx="5334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01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01200" y="279400"/>
            <a:ext cx="20955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054100" y="203200"/>
            <a:ext cx="832104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9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π0如何生成连续动作块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π0论文阅读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038600" y="6362700"/>
            <a:ext cx="41148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π0论文阅读 · 眼底导航策略学习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6106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04 / 13</a:t>
            </a:r>
            <a:endParaRPr lang="en-US" sz="1100"/>
          </a:p>
        </p:txBody>
      </p:sp>
      <p:sp>
        <p:nvSpPr>
          <p:cNvPr id="28" name="TextBox 27"/>
          <p:cNvSpPr txBox="1"/>
          <p:nvPr/>
        </p:nvSpPr>
        <p:spPr>
          <a:xfrm>
            <a:off x="731520" y="1225296"/>
            <a:ext cx="768096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动作块：一次预测未来一段动作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" y="1810512"/>
            <a:ext cx="1682496" cy="658368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1883664"/>
            <a:ext cx="1463040" cy="512063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aₜ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06624" y="1810512"/>
            <a:ext cx="1682496" cy="658368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16352" y="1883664"/>
            <a:ext cx="1463040" cy="512063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aₜ₊₁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45152" y="1810512"/>
            <a:ext cx="1682496" cy="658368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1883664"/>
            <a:ext cx="1463040" cy="512063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aₜ₊₂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1810512"/>
            <a:ext cx="1682496" cy="65836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93408" y="1883664"/>
            <a:ext cx="1463040" cy="512063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22208" y="1810512"/>
            <a:ext cx="1682496" cy="658368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31936" y="1883664"/>
            <a:ext cx="1463040" cy="512063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aₜ₊H₋₁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2542032"/>
            <a:ext cx="10424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论文采用H=50；按执行协议重新观测与推理，动作块不等于全程开环。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7512" y="3154680"/>
            <a:ext cx="5303520" cy="203911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" y="3255264"/>
            <a:ext cx="4882896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训练：学习条件速度场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3712463"/>
            <a:ext cx="4882896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L = E ‖vθ(Aτ, o, τ) − (A − ε)‖²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" y="4407408"/>
            <a:ext cx="4800600" cy="5577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用示范动作与噪声构造中间状态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监督从噪声流向动作的方向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3154680"/>
            <a:ext cx="5303520" cy="203911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9944" y="3255264"/>
            <a:ext cx="4882896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推理：由噪声积分为动作块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3913632"/>
            <a:ext cx="1298448" cy="667512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10528" y="3986784"/>
            <a:ext cx="1078992" cy="521207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噪声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56448" y="3913632"/>
            <a:ext cx="1298448" cy="667512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66175" y="3986784"/>
            <a:ext cx="1078992" cy="521207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迭代更新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12096" y="3913632"/>
            <a:ext cx="1298448" cy="667512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21824" y="3986784"/>
            <a:ext cx="1078992" cy="521207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动作块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717536" y="4242816"/>
            <a:ext cx="393191" cy="0"/>
          </a:xfrm>
          <a:prstGeom prst="line">
            <a:avLst/>
          </a:prstGeom>
          <a:ln w="2540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473184" y="4242816"/>
            <a:ext cx="393192" cy="0"/>
          </a:xfrm>
          <a:prstGeom prst="line">
            <a:avLst/>
          </a:prstGeom>
          <a:ln w="2540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419088" y="4681728"/>
            <a:ext cx="4736592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10步Euler；ε为高斯噪声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o为观测条件，Aτ为中间动作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9904" y="5596128"/>
            <a:ext cx="10972800" cy="448056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9808" y="5623560"/>
            <a:ext cx="10698480" cy="3749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τ=0为噪声，τ=1为动作；H=50是块长度，不是50次完整模型推理/秒。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512" y="6080760"/>
            <a:ext cx="10927080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Black et al., π0: A Vision-Language-Action Flow Model for General Robot Control, 2024, arXiv:2410.24164；线性插值路径的Flow Matching示意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448"/>
          <a:stretch>
            <a:fillRect/>
          </a:stretch>
        </p:blipFill>
        <p:spPr>
          <a:xfrm flipV="1">
            <a:off x="0" y="0"/>
            <a:ext cx="12179300" cy="2679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5400000">
            <a:off x="381000" y="3683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279400" y="2159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0">
            <a:off x="406400" y="3048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304800" y="1524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93700" y="292100"/>
            <a:ext cx="5334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01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01200" y="279400"/>
            <a:ext cx="20955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054100" y="203200"/>
            <a:ext cx="832104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9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π0的数据与训练方式对本项目的启发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π0论文阅读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038600" y="6362700"/>
            <a:ext cx="41148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π0论文阅读 · 眼底导航策略学习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6106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05 / 13</a:t>
            </a:r>
            <a:endParaRPr lang="en-US" sz="1100"/>
          </a:p>
        </p:txBody>
      </p:sp>
      <p:sp>
        <p:nvSpPr>
          <p:cNvPr id="28" name="TextBox 27"/>
          <p:cNvSpPr txBox="1"/>
          <p:nvPr/>
        </p:nvSpPr>
        <p:spPr>
          <a:xfrm>
            <a:off x="731520" y="1207008"/>
            <a:ext cx="544068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预训练广覆盖，后训练适配任务</a:t>
            </a:r>
          </a:p>
        </p:txBody>
      </p:sp>
      <p:pic>
        <p:nvPicPr>
          <p:cNvPr id="29" name="Picture 28" descr="π0原论文Figure13下半图，平均任务进度，每任务10次；Packing Eggs保留例外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1954411"/>
            <a:ext cx="5458968" cy="28394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04672" y="4956048"/>
            <a:ext cx="5340096" cy="4846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Figure 13下半图：平均任务进度，非成功率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每任务10次；Packing Eggs中scratch略高。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400800" y="1344168"/>
          <a:ext cx="5138928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"/>
                <a:gridCol w="2167128"/>
                <a:gridCol w="2368296"/>
              </a:tblGrid>
              <a:tr h="6324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方面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π0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本项目当前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6324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输入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图像、语言、状态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RGB、特征、ABC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6324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输出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连续动作块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单步 ΔABC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6324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模型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预训练VLM＋动作专家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轻量CNN＋MLP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6324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数据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多样机器人＋任务示范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随机多目标示范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6324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验证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机器人任务实验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专家闭环 / 策略离线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609904" y="5596128"/>
            <a:ext cx="10972800" cy="448056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5623560"/>
            <a:ext cx="10698480" cy="3749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研究问题：RGB＋状态策略能否降低运行时理想深度依赖，并完成留出布局闭环？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6080760"/>
            <a:ext cx="10927080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原论文Figure13（下半图）；Black et al., π0: A Vision-Language-Action Flow Model for General Robot Control, 2024, arXiv:2410.24164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448"/>
          <a:stretch>
            <a:fillRect/>
          </a:stretch>
        </p:blipFill>
        <p:spPr>
          <a:xfrm flipV="1">
            <a:off x="0" y="0"/>
            <a:ext cx="12179300" cy="2679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5400000">
            <a:off x="381000" y="3683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279400" y="2159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0">
            <a:off x="406400" y="3048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304800" y="1524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93700" y="292100"/>
            <a:ext cx="5334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02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01200" y="279400"/>
            <a:ext cx="20955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054100" y="203200"/>
            <a:ext cx="832104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9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视觉闭环建立了专家示范生成流程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专家闭环与示范生成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038600" y="6362700"/>
            <a:ext cx="41148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π0论文阅读 · 眼底导航策略学习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6106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06 / 13</a:t>
            </a:r>
            <a:endParaRPr lang="en-US" sz="1100"/>
          </a:p>
        </p:txBody>
      </p:sp>
      <p:sp>
        <p:nvSpPr>
          <p:cNvPr id="28" name="Rounded Rectangle 27"/>
          <p:cNvSpPr/>
          <p:nvPr/>
        </p:nvSpPr>
        <p:spPr>
          <a:xfrm>
            <a:off x="694944" y="1517904"/>
            <a:ext cx="2286000" cy="1060704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1609344"/>
            <a:ext cx="2029967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RGB／理想深度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2039112"/>
            <a:ext cx="2029967" cy="457199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当前传感器观测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38728" y="1517904"/>
            <a:ext cx="2286000" cy="1060704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66744" y="1609344"/>
            <a:ext cx="2029967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针尖／目标测量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66744" y="2039112"/>
            <a:ext cx="2029967" cy="457199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几何视觉重建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82512" y="1517904"/>
            <a:ext cx="2286000" cy="1060704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1609344"/>
            <a:ext cx="2029967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受限视觉伺服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2039112"/>
            <a:ext cx="2029967" cy="457199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中心差分与反馈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26296" y="1517904"/>
            <a:ext cx="2286000" cy="1060704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54312" y="1609344"/>
            <a:ext cx="2029967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ABC执行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54312" y="2039112"/>
            <a:ext cx="2029967" cy="457199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限速、限加速度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999232" y="2048256"/>
            <a:ext cx="466344" cy="0"/>
          </a:xfrm>
          <a:prstGeom prst="line">
            <a:avLst/>
          </a:prstGeom>
          <a:ln w="2540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843016" y="2048256"/>
            <a:ext cx="466343" cy="0"/>
          </a:xfrm>
          <a:prstGeom prst="line">
            <a:avLst/>
          </a:prstGeom>
          <a:ln w="2540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86800" y="2048256"/>
            <a:ext cx="466344" cy="0"/>
          </a:xfrm>
          <a:prstGeom prst="line">
            <a:avLst/>
          </a:prstGeom>
          <a:ln w="2540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351008" y="2606040"/>
            <a:ext cx="0" cy="365760"/>
          </a:xfrm>
          <a:prstGeom prst="line">
            <a:avLst/>
          </a:prstGeom>
          <a:ln w="2540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1847088" y="2971800"/>
            <a:ext cx="8503920" cy="0"/>
          </a:xfrm>
          <a:prstGeom prst="line">
            <a:avLst/>
          </a:prstGeom>
          <a:ln w="25400">
            <a:solidFill>
              <a:srgbClr val="487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847088" y="2624328"/>
            <a:ext cx="0" cy="347472"/>
          </a:xfrm>
          <a:prstGeom prst="line">
            <a:avLst/>
          </a:prstGeom>
          <a:ln w="2540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886200" y="3054096"/>
            <a:ext cx="388620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874CB"/>
                </a:solidFill>
                <a:latin typeface="Noto Sans SC"/>
                <a:ea typeface="Noto Sans SC"/>
                <a:cs typeface="Noto Sans SC"/>
              </a:rPr>
              <a:t>执行后重新观测，形成闭环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" y="3502152"/>
            <a:ext cx="5084064" cy="11887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" y="3593592"/>
            <a:ext cx="482803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故障修正：中心差分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023360"/>
            <a:ext cx="4828031" cy="5852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同一故障姿态，AB雅可比秩 1 → 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44184" y="3502152"/>
            <a:ext cx="5449824" cy="11887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3593592"/>
            <a:ext cx="5193792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可观测性修正：提高分辨率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4023360"/>
            <a:ext cx="5193792" cy="5852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同一回放帧，针尖可见像素 0 → 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" y="4983480"/>
            <a:ext cx="69951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局部故障证据；尚未完成整任务单因素消融。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66175" y="4901184"/>
            <a:ext cx="3209544" cy="448056"/>
          </a:xfrm>
          <a:prstGeom prst="roundRect">
            <a:avLst>
              <a:gd name="adj" fmla="val 12000"/>
            </a:avLst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75903" y="4974336"/>
            <a:ext cx="2990087" cy="301751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场景真值 → 独立验收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9904" y="5596128"/>
            <a:ext cx="10972800" cy="448056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8" y="5623560"/>
            <a:ext cx="10698480" cy="3749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控制依据视觉测量；独立真值用于验收，示教日志用于后续学习。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" y="6080760"/>
            <a:ext cx="10927080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项目证据：reports/20261022/meeting；理想RGB-D仿真；局部故障证据来自用户提供的实验日志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448"/>
          <a:stretch>
            <a:fillRect/>
          </a:stretch>
        </p:blipFill>
        <p:spPr>
          <a:xfrm flipV="1">
            <a:off x="0" y="0"/>
            <a:ext cx="12179300" cy="2679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5400000">
            <a:off x="381000" y="3683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279400" y="2159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0">
            <a:off x="406400" y="3048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304800" y="1524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93700" y="292100"/>
            <a:ext cx="5334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02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01200" y="279400"/>
            <a:ext cx="20955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054100" y="203200"/>
            <a:ext cx="832104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9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固定三点导航通过独立终点验收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专家闭环与示范生成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038600" y="6362700"/>
            <a:ext cx="41148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π0论文阅读 · 眼底导航策略学习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6106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07 / 13</a:t>
            </a:r>
            <a:endParaRPr lang="en-US" sz="1100"/>
          </a:p>
        </p:txBody>
      </p:sp>
      <p:pic>
        <p:nvPicPr>
          <p:cNvPr id="28" name="Picture 27" descr="严格三点专家实际执行轨迹，非规划路径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285621"/>
            <a:ext cx="6565392" cy="3920997"/>
          </a:xfrm>
          <a:prstGeom prst="rect">
            <a:avLst/>
          </a:prstGeom>
        </p:spPr>
      </p:pic>
      <p:pic>
        <p:nvPicPr>
          <p:cNvPr id="29" name="Picture 28" descr="三个独立终点误差与20微米阈值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375427"/>
            <a:ext cx="4069080" cy="302815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25512" y="4636008"/>
            <a:ext cx="3840480" cy="4846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874CB"/>
                </a:solidFill>
                <a:latin typeface="Noto Sans SC"/>
                <a:ea typeface="Noto Sans SC"/>
                <a:cs typeface="Noto Sans SC"/>
              </a:rPr>
              <a:t>每点停稳：≥3帧零指令速度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9904" y="5596128"/>
            <a:ext cx="10972800" cy="448056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623560"/>
            <a:ext cx="10698480" cy="3749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1个episode · 3个目标全部通过；最大独立终点误差6.634 μm。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" y="6080760"/>
            <a:ext cx="10927080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项目证据：reports/20261022/meeting；理想RGB-D仿真 / strict_three；场景真值仅用于验收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448"/>
          <a:stretch>
            <a:fillRect/>
          </a:stretch>
        </p:blipFill>
        <p:spPr>
          <a:xfrm flipV="1">
            <a:off x="0" y="0"/>
            <a:ext cx="12179300" cy="2679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5400000">
            <a:off x="381000" y="3683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279400" y="2159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0">
            <a:off x="406400" y="3048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304800" y="1524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93700" y="292100"/>
            <a:ext cx="5334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02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01200" y="279400"/>
            <a:ext cx="20955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054100" y="203200"/>
            <a:ext cx="832104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9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静态记忆与重观测连接遮挡前后的控制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专家闭环与遮挡恢复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038600" y="6362700"/>
            <a:ext cx="41148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π0论文阅读 · 眼底导航策略学习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6106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08 / 13</a:t>
            </a:r>
            <a:endParaRPr lang="en-US" sz="1100"/>
          </a:p>
        </p:txBody>
      </p:sp>
      <p:sp>
        <p:nvSpPr>
          <p:cNvPr id="28" name="Rounded Rectangle 27"/>
          <p:cNvSpPr/>
          <p:nvPr/>
        </p:nvSpPr>
        <p:spPr>
          <a:xfrm>
            <a:off x="704088" y="1325880"/>
            <a:ext cx="1508760" cy="758952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" y="1399032"/>
            <a:ext cx="1289304" cy="612647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可见跟踪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231136" y="1709928"/>
            <a:ext cx="192024" cy="0"/>
          </a:xfrm>
          <a:prstGeom prst="line">
            <a:avLst/>
          </a:prstGeom>
          <a:ln w="1905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468880" y="1325880"/>
            <a:ext cx="1508760" cy="758952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78608" y="1399032"/>
            <a:ext cx="1289304" cy="612647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短时记忆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995928" y="1709928"/>
            <a:ext cx="192024" cy="0"/>
          </a:xfrm>
          <a:prstGeom prst="line">
            <a:avLst/>
          </a:prstGeom>
          <a:ln w="1905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233672" y="1325880"/>
            <a:ext cx="1508760" cy="758952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1399032"/>
            <a:ext cx="1289304" cy="612647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受限回撤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重观测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760720" y="1709928"/>
            <a:ext cx="192024" cy="0"/>
          </a:xfrm>
          <a:prstGeom prst="line">
            <a:avLst/>
          </a:prstGeom>
          <a:ln w="1905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998464" y="1325880"/>
            <a:ext cx="1508760" cy="758952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08192" y="1399032"/>
            <a:ext cx="1289304" cy="612647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恢复跟踪</a:t>
            </a:r>
          </a:p>
        </p:txBody>
      </p:sp>
      <p:pic>
        <p:nvPicPr>
          <p:cNvPr id="39" name="Picture 38" descr="遮挡前；旧配对recovery实验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2662047"/>
            <a:ext cx="2057400" cy="15430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22376" y="4407408"/>
            <a:ext cx="20574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遮挡前</a:t>
            </a:r>
          </a:p>
        </p:txBody>
      </p:sp>
      <p:pic>
        <p:nvPicPr>
          <p:cNvPr id="41" name="Picture 40" descr="遮挡中：回撤；旧配对recovery实验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0088" y="2662047"/>
            <a:ext cx="2057400" cy="15430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990088" y="4407408"/>
            <a:ext cx="20574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遮挡中：回撤</a:t>
            </a:r>
          </a:p>
        </p:txBody>
      </p:sp>
      <p:pic>
        <p:nvPicPr>
          <p:cNvPr id="43" name="Picture 42" descr="重获后：恢复跟踪；旧配对recovery实验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2662047"/>
            <a:ext cx="2057400" cy="154305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257800" y="4407408"/>
            <a:ext cx="20574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重获后：恢复跟踪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7818120" y="1353312"/>
          <a:ext cx="37033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9968"/>
                <a:gridCol w="1673352"/>
              </a:tblGrid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组别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完成/计划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stop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 / 3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恢复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 / 3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7927848" y="3721608"/>
            <a:ext cx="3547872" cy="7680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874CB"/>
                </a:solidFill>
                <a:latin typeface="Noto Sans SC"/>
                <a:ea typeface="Noto Sans SC"/>
                <a:cs typeface="Noto Sans SC"/>
              </a:rPr>
              <a:t>恢复组最大误差 6.442 μm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874CB"/>
                </a:solidFill>
                <a:latin typeface="Noto Sans SC"/>
                <a:ea typeface="Noto Sans SC"/>
                <a:cs typeface="Noto Sans SC"/>
              </a:rPr>
              <a:t>24个记忆帧 · 1次恢复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" y="5010912"/>
            <a:ext cx="10652760" cy="3931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同一reset与遮挡计划；固定相机、静态目标，针尖仍需新鲜测量。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9904" y="5596128"/>
            <a:ext cx="10972800" cy="448056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" y="5623560"/>
            <a:ext cx="10698480" cy="3749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stop仅尝试P1，P2/P3未运行；瞬停加速度约束失败。仅1对固定场景。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" y="6080760"/>
            <a:ext cx="10927080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项目证据：reports/20261022/meeting；理想RGB-D仿真 / strict_occlusion_stop 与 strict_occlusion_recovery；pre-OCT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448"/>
          <a:stretch>
            <a:fillRect/>
          </a:stretch>
        </p:blipFill>
        <p:spPr>
          <a:xfrm flipV="1">
            <a:off x="0" y="0"/>
            <a:ext cx="12179300" cy="2679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5400000">
            <a:off x="381000" y="3683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279400" y="2159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0">
            <a:off x="406400" y="3048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304800" y="1524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93700" y="292100"/>
            <a:ext cx="5334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02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01200" y="279400"/>
            <a:ext cx="20955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054100" y="203200"/>
            <a:ext cx="832104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9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深度接口与接入后的补充复验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深度接口与补充复验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038600" y="6362700"/>
            <a:ext cx="41148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π0论文阅读 · 眼底导航策略学习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6106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09 / 13</a:t>
            </a:r>
            <a:endParaRPr lang="en-US" sz="1100"/>
          </a:p>
        </p:txBody>
      </p:sp>
      <p:pic>
        <p:nvPicPr>
          <p:cNvPr id="28" name="Picture 27" descr="local_diagnostic C/P3原始RGB、理想注册深度与有效区域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1870862"/>
            <a:ext cx="6656832" cy="245790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4956048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深度 · mask · frame ID · 时间戳；完整深度保存阶段末帧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589520" y="1371600"/>
          <a:ext cx="39319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1912"/>
                <a:gridCol w="2350008"/>
              </a:tblGrid>
              <a:tr h="8458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本地复验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结果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8458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A：无遮挡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P1 23.506 μm</a:t>
                      </a:r>
                    </a:p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精度FAIL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8458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B：stop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P1失观测FAIL</a:t>
                      </a:r>
                    </a:p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P2/P3未运行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8458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C：恢复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3/3通过</a:t>
                      </a:r>
                    </a:p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10.43–11.24 μm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609904" y="5596128"/>
            <a:ext cx="10972800" cy="448056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623560"/>
            <a:ext cx="10698480" cy="3749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MuJoCo理想注册深度；无真实OCT／A/B-scan；本地三组非严格同条件对照。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" y="6080760"/>
            <a:ext cx="10927080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补充证据：10c4656；primary与local_diagnostic分开统计；169文件/12阶段归档审计PASS不改变导航结局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448"/>
          <a:stretch>
            <a:fillRect/>
          </a:stretch>
        </p:blipFill>
        <p:spPr>
          <a:xfrm flipV="1">
            <a:off x="0" y="0"/>
            <a:ext cx="12179300" cy="2679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5400000">
            <a:off x="381000" y="3683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279400" y="2159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0">
            <a:off x="406400" y="3048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304800" y="1524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93700" y="292100"/>
            <a:ext cx="5334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02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01200" y="279400"/>
            <a:ext cx="20955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054100" y="203200"/>
            <a:ext cx="832104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9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随机多目标任务形成初步示范数据集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随机示范数据集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038600" y="6362700"/>
            <a:ext cx="41148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π0论文阅读 · 眼底导航策略学习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6106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10 / 13</a:t>
            </a:r>
            <a:endParaRPr lang="en-US" sz="1100"/>
          </a:p>
        </p:txBody>
      </p:sp>
      <p:pic>
        <p:nvPicPr>
          <p:cNvPr id="28" name="Picture 27" descr="来自已采集episode的真实随机3点与5点布局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1331440"/>
            <a:ext cx="6016752" cy="317099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931152" y="1307592"/>
            <a:ext cx="2157984" cy="93268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1362456"/>
            <a:ext cx="1938528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4874CB"/>
                </a:solidFill>
                <a:latin typeface="Noto Sans SC"/>
                <a:ea typeface="Noto Sans SC"/>
                <a:cs typeface="Noto Sans SC"/>
              </a:rPr>
              <a:t>16 / 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1856231"/>
            <a:ext cx="1975103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专家任务合格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08592" y="1307592"/>
            <a:ext cx="2157984" cy="93268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19" y="1362456"/>
            <a:ext cx="1938528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4874CB"/>
                </a:solidFill>
                <a:latin typeface="Noto Sans SC"/>
                <a:ea typeface="Noto Sans SC"/>
                <a:cs typeface="Noto Sans SC"/>
              </a:rPr>
              <a:t>26,705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0032" y="1856231"/>
            <a:ext cx="1975103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合格RGB帧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912864" y="2551176"/>
          <a:ext cx="459028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/>
                <a:gridCol w="1399032"/>
                <a:gridCol w="1874519"/>
              </a:tblGrid>
              <a:tr h="4800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划分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episode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帧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训练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20,075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验证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3,184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测试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3,446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704088" y="4681728"/>
            <a:ext cx="10789920" cy="722376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真实对齐样本：0.50秒的原始RG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729734"/>
            <a:ext cx="786384" cy="58978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700784" y="4718304"/>
            <a:ext cx="9582912" cy="2834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真实样本 t=0.50s：ABCₜ=[−1.30°, 0.65°, 0.00mm] → a_abs=[−1.50°, 0.75°, 0.00mm]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00784" y="5056632"/>
            <a:ext cx="9582912" cy="26517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日志存下一步绝对命令；训练标签 ΔABC≈[−0.20°, 0.10°, 0.00mm]，并核对下一帧状态。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9904" y="5596128"/>
            <a:ext cx="10972800" cy="448056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5623560"/>
            <a:ext cx="10698480" cy="3749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合格示教64个目标全部停稳，最大误差14.981 μm；3次失败完整保留。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" y="6080760"/>
            <a:ext cx="10927080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项目证据：random_policy_overnight_20261022 / round_03；按完整布局拆分，禁止相邻帧随机拆分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448"/>
          <a:stretch>
            <a:fillRect/>
          </a:stretch>
        </p:blipFill>
        <p:spPr>
          <a:xfrm flipV="1">
            <a:off x="0" y="0"/>
            <a:ext cx="12179300" cy="2679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5400000">
            <a:off x="381000" y="3683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279400" y="2159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0">
            <a:off x="406400" y="3048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304800" y="1524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93700" y="292100"/>
            <a:ext cx="5334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03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01200" y="279400"/>
            <a:ext cx="20955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054100" y="203200"/>
            <a:ext cx="832104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9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从RGB和机器人状态学习下一步ABC动作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单步监督模仿学习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038600" y="6362700"/>
            <a:ext cx="41148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π0论文阅读 · 眼底导航策略学习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6106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11 / 13</a:t>
            </a:r>
            <a:endParaRPr lang="en-US" sz="1100"/>
          </a:p>
        </p:txBody>
      </p:sp>
      <p:sp>
        <p:nvSpPr>
          <p:cNvPr id="28" name="Rounded Rectangle 27"/>
          <p:cNvSpPr/>
          <p:nvPr/>
        </p:nvSpPr>
        <p:spPr>
          <a:xfrm>
            <a:off x="694944" y="1490472"/>
            <a:ext cx="2852928" cy="13716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1581912"/>
            <a:ext cx="2596896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图像输入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2011679"/>
            <a:ext cx="2596896" cy="7680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全局RGB＋局部ROI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96×96 / 64×64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" y="3666744"/>
            <a:ext cx="2852928" cy="12801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58183"/>
            <a:ext cx="2596896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数值输入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187952"/>
            <a:ext cx="2596896" cy="67665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ABC＋RGB提取特征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中心坐标／可见性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78808" y="1673352"/>
            <a:ext cx="2103120" cy="10058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06824" y="1764792"/>
            <a:ext cx="1847087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共享CNN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06824" y="2194560"/>
            <a:ext cx="1847087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两幅图像编码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78808" y="3685032"/>
            <a:ext cx="2103120" cy="11887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06824" y="3776472"/>
            <a:ext cx="1847087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数值处理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06824" y="4206240"/>
            <a:ext cx="1847087" cy="5852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ABC标准化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RGB特征直传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95160" y="2587752"/>
            <a:ext cx="1828800" cy="102412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23176" y="2679192"/>
            <a:ext cx="157276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特征拼接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23176" y="3108960"/>
            <a:ext cx="1572768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图像＋数值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82328" y="2587752"/>
            <a:ext cx="2011680" cy="102412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2679192"/>
            <a:ext cx="175564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动作MLP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10344" y="3108960"/>
            <a:ext cx="1755648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单步 ΔABC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566160" y="2176272"/>
            <a:ext cx="548640" cy="0"/>
          </a:xfrm>
          <a:prstGeom prst="line">
            <a:avLst/>
          </a:prstGeom>
          <a:ln w="2540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566160" y="4206240"/>
            <a:ext cx="548640" cy="0"/>
          </a:xfrm>
          <a:prstGeom prst="line">
            <a:avLst/>
          </a:prstGeom>
          <a:ln w="2540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309360" y="2176272"/>
            <a:ext cx="612648" cy="722376"/>
          </a:xfrm>
          <a:prstGeom prst="line">
            <a:avLst/>
          </a:prstGeom>
          <a:ln w="2540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309360" y="3291840"/>
            <a:ext cx="612648" cy="914400"/>
          </a:xfrm>
          <a:prstGeom prst="line">
            <a:avLst/>
          </a:prstGeom>
          <a:ln w="2540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851392" y="3108960"/>
            <a:ext cx="548640" cy="0"/>
          </a:xfrm>
          <a:prstGeom prst="line">
            <a:avLst/>
          </a:prstGeom>
          <a:ln w="2540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069080" y="5001768"/>
            <a:ext cx="74523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监督标签：下一帧ABC − 当前ABC；按实际时间间隔加权。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9904" y="5596128"/>
            <a:ext cx="10972800" cy="448056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" y="5623560"/>
            <a:ext cx="10698480" cy="3749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当前为单步行为克隆基线；深度、分割、phase、目标ID及场景真值不入策略。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" y="6080760"/>
            <a:ext cx="10927080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项目证据：random_policy_overnight_20261022 / round_03；非π0复现，尚未使用VLM、动作块或Flow Matching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448"/>
          <a:stretch>
            <a:fillRect/>
          </a:stretch>
        </p:blipFill>
        <p:spPr>
          <a:xfrm flipV="1">
            <a:off x="0" y="0"/>
            <a:ext cx="12179300" cy="2679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5400000">
            <a:off x="381000" y="3683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279400" y="2159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0">
            <a:off x="406400" y="3048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304800" y="1524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93700" y="292100"/>
            <a:ext cx="5334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03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01200" y="279400"/>
            <a:ext cx="20955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054100" y="203200"/>
            <a:ext cx="832104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9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视觉信息改善了留出布局的离线动作预测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策略离线测试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038600" y="6362700"/>
            <a:ext cx="41148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π0论文阅读 · 眼底导航策略学习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6106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12 / 13</a:t>
            </a:r>
            <a:endParaRPr lang="en-US" sz="1100"/>
          </a:p>
        </p:txBody>
      </p:sp>
      <p:pic>
        <p:nvPicPr>
          <p:cNvPr id="28" name="Picture 27" descr="四种方法在两个留出布局上的时间加权归一化一步动作MS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703" y="1316736"/>
            <a:ext cx="6526784" cy="402336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8028431" y="1417320"/>
            <a:ext cx="3438144" cy="93268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59" y="1472184"/>
            <a:ext cx="3218687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4874CB"/>
                </a:solidFill>
                <a:latin typeface="Noto Sans SC"/>
                <a:ea typeface="Noto Sans SC"/>
                <a:cs typeface="Noto Sans SC"/>
              </a:rPr>
              <a:t>41.8%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9871" y="1965960"/>
            <a:ext cx="3255263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相对仅状态MSE下降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8028431" y="2743200"/>
          <a:ext cx="3438144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380744"/>
              </a:tblGrid>
              <a:tr h="55473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C轴动作MAE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μm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55473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仅状态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10.472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55473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RGB＋状态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11.162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8156448" y="4581144"/>
            <a:ext cx="3209544" cy="5760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2400E"/>
                </a:solidFill>
                <a:latin typeface="Noto Sans SC"/>
                <a:ea typeface="Noto Sans SC"/>
                <a:cs typeface="Noto Sans SC"/>
              </a:rPr>
              <a:t>C轴未改善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2400E"/>
                </a:solidFill>
                <a:latin typeface="Noto Sans SC"/>
                <a:ea typeface="Noto Sans SC"/>
                <a:cs typeface="Noto Sans SC"/>
              </a:rPr>
              <a:t>动作误差 ≠ 终点误差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904" y="5596128"/>
            <a:ext cx="10972800" cy="448056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5623560"/>
            <a:ext cx="10698480" cy="3749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仅2个留出测试episode；学习策略闭环到达率和&lt;20 μm终点精度尚未评估。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" y="6080760"/>
            <a:ext cx="10927080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项目证据：random_policy_overnight_20261022 / round_03；验证集选模，最终测试未参与选择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448"/>
          <a:stretch>
            <a:fillRect/>
          </a:stretch>
        </p:blipFill>
        <p:spPr>
          <a:xfrm flipV="1">
            <a:off x="0" y="0"/>
            <a:ext cx="12179300" cy="2679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5400000">
            <a:off x="381000" y="3683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279400" y="2159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0">
            <a:off x="406400" y="3048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304800" y="1524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93700" y="292100"/>
            <a:ext cx="5334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03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01200" y="279400"/>
            <a:ext cx="20955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054100" y="203200"/>
            <a:ext cx="832104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9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下一步以闭环导航检验学习策略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下一步实验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038600" y="6362700"/>
            <a:ext cx="41148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π0论文阅读 · 眼底导航策略学习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6106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13 / 13</a:t>
            </a:r>
            <a:endParaRPr lang="en-US" sz="1100"/>
          </a:p>
        </p:txBody>
      </p:sp>
      <p:sp>
        <p:nvSpPr>
          <p:cNvPr id="28" name="Rounded Rectangle 27"/>
          <p:cNvSpPr/>
          <p:nvPr/>
        </p:nvSpPr>
        <p:spPr>
          <a:xfrm>
            <a:off x="704088" y="1591056"/>
            <a:ext cx="3328416" cy="21214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1682496"/>
            <a:ext cx="3072384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1  统一协议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" y="2112264"/>
            <a:ext cx="3072384" cy="1517903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冻结代码版本、初始条件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与独立随机测试布局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4840" y="1591056"/>
            <a:ext cx="3328416" cy="2121408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62855" y="1682496"/>
            <a:ext cx="3072384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2  策略闭环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2855" y="2112264"/>
            <a:ext cx="3072384" cy="1517903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同批任务配对比较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专家与RGB＋状态策略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65592" y="1591056"/>
            <a:ext cx="3328416" cy="21214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3608" y="1682496"/>
            <a:ext cx="3072384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3  困难条件扩展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8" y="2112264"/>
            <a:ext cx="3072384" cy="1517903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扩大遮挡、深度噪声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及观测／执行延迟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059936" y="2642616"/>
            <a:ext cx="320040" cy="0"/>
          </a:xfrm>
          <a:prstGeom prst="line">
            <a:avLst/>
          </a:prstGeom>
          <a:ln w="2540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90688" y="2642616"/>
            <a:ext cx="320039" cy="0"/>
          </a:xfrm>
          <a:prstGeom prst="line">
            <a:avLst/>
          </a:prstGeom>
          <a:ln w="2540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86384" y="4151376"/>
          <a:ext cx="10625328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880360"/>
                <a:gridCol w="2843784"/>
                <a:gridCol w="2432304"/>
              </a:tblGrid>
              <a:tr h="46634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闭环完成率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独立三维终点误差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停稳与约束违例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失败原因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整任务与逐目标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均值／最大值／&lt;20 μm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每目标、每任务记录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完整保留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0" name="Rounded Rectangle 39"/>
          <p:cNvSpPr/>
          <p:nvPr/>
        </p:nvSpPr>
        <p:spPr>
          <a:xfrm>
            <a:off x="609904" y="5596128"/>
            <a:ext cx="10972800" cy="448056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5623560"/>
            <a:ext cx="10698480" cy="3749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下一次要回答：减少运行时理想深度依赖后，策略还能否完成留出布局导航？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" y="6080760"/>
            <a:ext cx="10927080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实验计划；尚未产生学习策略闭环结果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448"/>
          <a:stretch>
            <a:fillRect/>
          </a:stretch>
        </p:blipFill>
        <p:spPr>
          <a:xfrm flipV="1">
            <a:off x="0" y="0"/>
            <a:ext cx="12179300" cy="2679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5400000">
            <a:off x="381000" y="3683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279400" y="2159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0">
            <a:off x="406400" y="3048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304800" y="1524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93700" y="292100"/>
            <a:ext cx="5334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附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01200" y="279400"/>
            <a:ext cx="20955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054100" y="203200"/>
            <a:ext cx="832104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9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实验来源、版本与复现记录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备份 · 来源与复现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038600" y="6362700"/>
            <a:ext cx="41148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π0论文阅读 · 眼底导航策略学习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6106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B1 / 3</a:t>
            </a:r>
            <a:endParaRPr lang="en-US" sz="1100"/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13232" y="1325880"/>
          <a:ext cx="10808208" cy="221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617720"/>
                <a:gridCol w="4773168"/>
              </a:tblGrid>
              <a:tr h="55321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用途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分支／提交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材料与边界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55321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主线基线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main / 79afacc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严格视觉、OCT仿真接口及已有报告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55321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补充实验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experiment/oct-three-group-79afacc</a:t>
                      </a:r>
                    </a:p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10c4656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primary与local_diagnostic分开；归档审计PASS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55321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训练成果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download-random-fundus-bc-20261023</a:t>
                      </a:r>
                    </a:p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8683b76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代码、三轮模型、报告ZIP；完整原始RGB未打包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740664" y="3803904"/>
            <a:ext cx="5175504" cy="1243584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3895344"/>
            <a:ext cx="4919472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每次采集需绑定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325112"/>
            <a:ext cx="4919472" cy="6400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运行ID · 源码哈希 · 初始姿态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目标布局 · 传感器模式 · 验收条件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803904"/>
            <a:ext cx="5175504" cy="1243584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45936" y="3895344"/>
            <a:ext cx="4919472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发布版本 ≠ 采集版本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6" y="4325112"/>
            <a:ext cx="4919472" cy="6400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local fallback说明保留；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分支父提交不能追认全部采集同源。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9904" y="5596128"/>
            <a:ext cx="10972800" cy="448056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5623560"/>
            <a:ext cx="10698480" cy="3749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48条工作日志不是48次导航；复制、归档与复核不增加独立实验次数。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" y="6080760"/>
            <a:ext cx="10927080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远端分支与提交已核对；补充包provenance.json；主报告不展示上传代理配置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448"/>
          <a:stretch>
            <a:fillRect/>
          </a:stretch>
        </p:blipFill>
        <p:spPr>
          <a:xfrm flipV="1">
            <a:off x="0" y="0"/>
            <a:ext cx="12179300" cy="2679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5400000">
            <a:off x="381000" y="3683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279400" y="2159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0">
            <a:off x="406400" y="3048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304800" y="1524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93700" y="292100"/>
            <a:ext cx="5334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附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01200" y="279400"/>
            <a:ext cx="20955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054100" y="203200"/>
            <a:ext cx="832104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9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深度接口与本地复验详细结果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备份 · 深度与补充复验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038600" y="6362700"/>
            <a:ext cx="41148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π0论文阅读 · 眼底导航策略学习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6106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B2 / 3</a:t>
            </a:r>
            <a:endParaRPr lang="en-US" sz="1100"/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94944" y="1325880"/>
          <a:ext cx="1083564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3704"/>
                <a:gridCol w="1975104"/>
                <a:gridCol w="1618488"/>
                <a:gridCol w="5038344"/>
              </a:tblGrid>
              <a:tr h="588873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来源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组别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完成/计划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独立验收／失败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588873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primary（pre-OCT）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 / B / C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3/3 · 0/3 · 3/3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A最大6.634；C最大6.442 μm；B仅尝试P1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588873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local_diagnostic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A：无遮挡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0/3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P1 23.506 μm；P2/P3未运行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588873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local_diagnostic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B：stop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0/3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P1目标不可见；P2/P3未运行；加速度FAIL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58887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local_diagnostic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C：恢复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3/3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8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10.917 / 10.434 / 11.244 μm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731520" y="4553712"/>
            <a:ext cx="5166360" cy="740664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4626864"/>
            <a:ext cx="4946904" cy="5943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保存：JSONL序列元数据＋各阶段末帧完整深度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8776" y="4553712"/>
            <a:ext cx="5166360" cy="740664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18504" y="4626864"/>
            <a:ext cx="4946904" cy="5943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渲染中位0.471秒/帧：未支持实际20 Hz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9904" y="5596128"/>
            <a:ext cx="10972800" cy="448056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623560"/>
            <a:ext cx="10698480" cy="3749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12阶段／12 NPZ归档检查通过；理想注册深度，不包含真实OCT噪声或A/B-scan。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" y="6080760"/>
            <a:ext cx="10927080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10c4656: metrics.json、oct_audit.json；接口数值10组、传感器12组检查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448"/>
          <a:stretch>
            <a:fillRect/>
          </a:stretch>
        </p:blipFill>
        <p:spPr>
          <a:xfrm flipV="1">
            <a:off x="0" y="0"/>
            <a:ext cx="12179300" cy="2679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5400000">
            <a:off x="381000" y="3683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279400" y="2159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0">
            <a:off x="406400" y="3048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304800" y="1524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93700" y="292100"/>
            <a:ext cx="5334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附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01200" y="279400"/>
            <a:ext cx="20955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054100" y="203200"/>
            <a:ext cx="832104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9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训练细节与控制回归检查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备份 · 训练与回归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038600" y="6362700"/>
            <a:ext cx="41148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π0论文阅读 · 眼底导航策略学习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6106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B3 / 3</a:t>
            </a:r>
            <a:endParaRPr lang="en-US" sz="1100"/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04088" y="1316736"/>
          <a:ext cx="657453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"/>
                <a:gridCol w="1764792"/>
                <a:gridCol w="2066543"/>
                <a:gridCol w="2066543"/>
              </a:tblGrid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轮次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训练episode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RGB验证MSE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状态验证MSE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0.148889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0.185904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0.139064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0.185806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0.111807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0.174239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7552944" y="1344168"/>
            <a:ext cx="3950208" cy="224028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1435608"/>
            <a:ext cx="3694176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归一化与加权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1865376"/>
            <a:ext cx="3694176" cy="163677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动作尺度：0.2° / 0.1° / 0.03 mm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按实际Δt加权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验证集选模；测试仅最终评估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" y="3895344"/>
            <a:ext cx="10378440" cy="5760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2400E"/>
                </a:solidFill>
                <a:latin typeface="Noto Sans SC"/>
                <a:ea typeface="Noto Sans SC"/>
                <a:cs typeface="Noto Sans SC"/>
              </a:rPr>
              <a:t>三轮同时改变数据量、随机种子和epoch上限，不能当作单因素规模消融。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" y="4645152"/>
            <a:ext cx="10378440" cy="521207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控制回归：中心差分故障姿态、分辨率同帧回放；RRT/PRM失观测闭锁不代表规划成功。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904" y="5596128"/>
            <a:ext cx="10972800" cy="448056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5623560"/>
            <a:ext cx="10698480" cy="3749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离线动作误差与导航终点误差分别验收；训练曲线和原始报告随材料提供。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" y="6080760"/>
            <a:ext cx="10927080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项目证据：random_policy_overnight_20261022 / round_03；制作辅助：scientific-slides v1.12 / Supervisor-Skills（版本见说明）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825</Words>
  <Application>Microsoft Office PowerPoint</Application>
  <PresentationFormat>宽屏</PresentationFormat>
  <Paragraphs>172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Noto Sans SC</vt:lpstr>
      <vt:lpstr>微软雅黑</vt:lpstr>
      <vt:lpstr>Arial</vt:lpstr>
      <vt:lpstr>Calibri</vt:lpstr>
      <vt:lpstr>Office 主题​​</vt:lpstr>
      <vt:lpstr>默认主题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yang</cp:lastModifiedBy>
  <cp:revision>2</cp:revision>
  <dcterms:modified xsi:type="dcterms:W3CDTF">2026-09-23T08:51:46Z</dcterms:modified>
  <dc:title>π0论文阅读与眼底机器人导航策略学习进展</dc:title>
  <dc:subject>13页主报告＋3页备份；正文13分30秒；π0三页4分钟</dc:subject>
  <dc:creator>杨淏博</dc:creator>
  <cp:keywords>π0, RCM, 视觉导航, 遮挡恢复, 行为克隆, 仿真</cp:keyword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{"Label":"1","ContentProducer":"001191110102MACQD9K64010000","ProduceID":"7688627852144937915","ReservedCode1":"","ContentPropagator":"","PropagateID":"","ReservedCode2":""}</vt:lpwstr>
  </property>
</Properties>
</file>